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"/>
      <p:regular r:id="rId28"/>
      <p:bold r:id="rId29"/>
      <p:italic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41AEA1-5BE4-46E8-A930-A08586C1D4F1}">
  <a:tblStyle styleId="{FF41AEA1-5BE4-46E8-A930-A08586C1D4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4.xml"/><Relationship Id="rId32" Type="http://schemas.openxmlformats.org/officeDocument/2006/relationships/font" Target="fonts/JetBrainsMono-regular.fntdata"/><Relationship Id="rId13" Type="http://schemas.openxmlformats.org/officeDocument/2006/relationships/slide" Target="slides/slide7.xml"/><Relationship Id="rId35" Type="http://schemas.openxmlformats.org/officeDocument/2006/relationships/font" Target="fonts/JetBrainsMono-bold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31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85775" y="1639341"/>
            <a:ext cx="5690711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KIỂM THỬ &amp; QA HỆ THỐNG TMĐT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(MERN STACK)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85775" y="3401466"/>
            <a:ext cx="54197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Áp dụng quy trình Agile &amp; Tích hợp liên tục (CI/CD)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6312" y="1524000"/>
            <a:ext cx="5079950" cy="38098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14375" y="4513808"/>
            <a:ext cx="5191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Sinh viên: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Đinh Trung Hội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		Nguyễn Hãi Đăng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		Huỳnh Phúc Hưng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795587"/>
            <a:ext cx="54197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Tổng Quan Đề Tài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85775" y="2300287"/>
            <a:ext cx="569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Đối tượng &amp; Phương pháp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581775" y="3090862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Công nghệ kiểm thử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27670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Đối tượng: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Website TMĐT Full-stack (MongoDB, Express, React, Node).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34909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Phương pháp: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Agile (Scrum) - Phát triển &amp; kiểm thử song song.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42148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Quy trình: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Chuyển dịch từ Manual sang Automation Testing.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49387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CI/CD: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Tự động chạy test suite khi push code lên GitHub.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67525" y="355758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Logic/API: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Jest, Supertest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67525" y="4005262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Hiệu năng: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k6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67525" y="445293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Dữ liệu: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Faker.js, MongoDB Atlas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7670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4909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2148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938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35575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40052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4452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3609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7525" y="4057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45053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2147887"/>
            <a:ext cx="541972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47887"/>
            <a:ext cx="5419725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Thách Thức &amp; Hướng Tiếp Cận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81050" y="2881312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Thách Thức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581775" y="2881312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Giải Pháp &amp; Đóng Góp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47173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066800" y="33480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Dữ liệu động: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Khó đảm bảo tính nhất quán (Consistency) khi test trên DB thật.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66800" y="40719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Nghiệp vụ phức tạp: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Luồng mua hàng liên quan nhiều bảng (User, Cart, Product, Order).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66800" y="47958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Hiệu năng: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Cần chịu tải cao trong các đợt Flash Sale (High Traffic).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47173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867525" y="33480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Fixture 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Tự động sinh/xóa dữ liệu mẫu (beforeAll / afterEach).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867525" y="40719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 thử đa tầng: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Kết hợp chặt chẽ Unit Test (Models) và Integration Test (API).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867525" y="47958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Mô phỏng kịch bản Spike (Sốc tải) và Stress test thực tế.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348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071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7958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348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071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7958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76450"/>
            <a:ext cx="5419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Quy Trình Kiểm Thử (V-Model)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209" y="2085975"/>
            <a:ext cx="3974306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71525" y="2114550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Phân tích yêu cầu ↔ UAT: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Dựa trên User Stories ("Là khách hàng, tôi muốn...").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71525" y="2914650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Thiết kế hệ thống ↔ System Test (E2E):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Kiểm tra luồng dữ liệu toàn trình từ Frontend xuống Database.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71525" y="4019550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Thiết kế kiến trúc ↔ Integration Test: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Kiểm tra các API Endpoints và sự tương tác giữa các module.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71525" y="5124450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Thiết kế chi tiết ↔ Unit Test: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Kiểm tra logic nhỏ nhất: Hàm tiện ích, Models validation.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1145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914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0195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1244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843087"/>
            <a:ext cx="541972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43087"/>
            <a:ext cx="541972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605087"/>
            <a:ext cx="48291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Phân Tích Yêu Cầu → UAT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81050" y="2138362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Yêu Cầu Cốt Lõi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81775" y="2138362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Minh Chứng Thực Tế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81775" y="5329237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Scenario Passed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66800" y="260508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Authentication: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Đăng ký, Đăng nhập, Bảo mật (JWT).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66800" y="332898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 Discovery: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Tìm kiếm, Lọc, Phân trang sản phẩm.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66800" y="405288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Shopping: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Thêm vào giỏ hàng, Checkout, Thanh toán.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66800" y="477678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Admin: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Quản lý đơn hàng, Thêm/Sửa/Xóa sản phẩm.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9300" y="53863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605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328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052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7767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2324100"/>
            <a:ext cx="354969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1224" y="2324100"/>
            <a:ext cx="354969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6674" y="2324100"/>
            <a:ext cx="3549699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Thiết Kế Hệ Thống: Workflow, Data &amp; UI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050399" y="3276600"/>
            <a:ext cx="24203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Workflow Testing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81050" y="3933825"/>
            <a:ext cx="29591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 thử vòng đời đơn hàng (Order Lifecycle):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Pending → Dispatched → Delivered → Cancelled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320903" y="3276600"/>
            <a:ext cx="1550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Data Model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16499" y="3933825"/>
            <a:ext cx="29591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Schema Validation: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Giá &gt;= 0, Email đúng định dạng.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Ref Integrity: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Order phải chứa UserID hợp lệ.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966328" y="3276600"/>
            <a:ext cx="19302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API Standards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451949" y="3933825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 Status Code chuẩn: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200 OK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201 Created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5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400 Bad Request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5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401 Unauth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0050" y="26574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312" y="2657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7137" y="2657475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76450"/>
            <a:ext cx="5419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Kiểm Thử Phi Chức Năng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485775" y="1924050"/>
            <a:ext cx="569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1. Hiệu Năng (Performance - k6)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485775" y="4733925"/>
            <a:ext cx="569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2. Bảo Mật (Security)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2660005"/>
            <a:ext cx="5400675" cy="264288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71525" y="2390775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Load Test: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50-300 Virtual Users (VUs) → Đảm bảo p95 &lt; 1000ms.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71525" y="3114675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Spike Test: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Tăng vọt lên 500 VUs trong 10s → Test khả năng phục hồi.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71525" y="3838575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Stress Test: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Tìm điểm gãy (Breaking point) của hệ thống.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71525" y="520065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Password hash (Bcrypt).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71525" y="561975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Authorization: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Chặn User thường gọi API Admin.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3907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1146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838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200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6197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766887"/>
            <a:ext cx="5419725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66887"/>
            <a:ext cx="5419725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Thiết Kế Kiến Trúc: Phân Tích Thành Phần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60320" y="2719387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Backend (Trọng tâm)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81050" y="3233737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Trọng tâm của đồ án là API Automation Testing: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461045" y="2719387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581775" y="3233737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 tra tích hợp giao diện: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5137" y="2100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066800" y="37290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Kiểm tra coverage các method GET, POST, PUT, DELETE.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66800" y="44529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Entities: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Validate Mongoose Models (Product, Order, User, Cart).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066800" y="51768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Middleware: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Test Auth middleware, Error handling.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05862" y="2100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6867525" y="372903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 tra việc gọi API chính xác.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867525" y="414813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 tra render dữ liệu trả về từ Server.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867525" y="456723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Xử lý các trạng thái Loading, Error trên UI.</a:t>
            </a:r>
            <a:endParaRPr/>
          </a:p>
        </p:txBody>
      </p:sp>
      <p:pic>
        <p:nvPicPr>
          <p:cNvPr descr="image.png" id="233" name="Google Shape;23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729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452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51768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729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1481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5672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/>
        </p:nvSpPr>
        <p:spPr>
          <a:xfrm>
            <a:off x="581025" y="581025"/>
            <a:ext cx="51906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Kết Nối &amp; Triển Khai (CI/CD)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81025" y="1847850"/>
            <a:ext cx="49434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269899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581025" y="2247900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Integration Strategy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81025" y="290512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Sử dụng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 MongoDB Atlas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thay vì Mock DB để tăng độ tin cậy. Dữ liệu được đảm bảo nhất quán qua Transaction.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581025" y="429577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CI/CD Pipeline (GitHub Actions)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81025" y="49530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Pipeline kích hoạt tự động mỗi khi có commit mới: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66775" y="54483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 Node Modules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66775" y="58674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 Linter (Check code style)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66775" y="628650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 Jest Tests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(Block merge nếu fail)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66775" y="6705600"/>
            <a:ext cx="4657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Project</a:t>
            </a:r>
            <a:endParaRPr/>
          </a:p>
        </p:txBody>
      </p:sp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4483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674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865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70560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819275"/>
            <a:ext cx="5419725" cy="432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19275"/>
            <a:ext cx="5419725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Phương Pháp: Hộp Đen vs Hộp Trắng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781050" y="2114550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Hộp Đen (Black-box)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781050" y="2628900"/>
            <a:ext cx="4829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Tập trung vào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/ Output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mà không quan tâm code bên trong.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781050" y="3429000"/>
            <a:ext cx="48291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781050" y="3638550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Ví dụ: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POST /products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781050" y="5048250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Áp dụng: Product.test.js, Auth.test.js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581775" y="2114550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Hộp Trắng (White-box)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581775" y="2628900"/>
            <a:ext cx="4829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Tập trung vào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Coverage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và cấu trúc logic nội tại.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6581775" y="3429000"/>
            <a:ext cx="48291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581775" y="3638550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Kỹ thuật: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581775" y="5353050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Áp dụng: Unit test cho utils, middlewares.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1066800" y="41338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Input: Giá = -1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66800" y="45529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Expect: 400 Bad Request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867525" y="41338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 tra nhánh if/else, try/catch.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6867525" y="4552950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Đảm bảo mọi dòng code quan trọng đều được thực thi.</a:t>
            </a:r>
            <a:endParaRPr/>
          </a:p>
        </p:txBody>
      </p:sp>
      <p:pic>
        <p:nvPicPr>
          <p:cNvPr descr="image.png" id="280" name="Google Shape;28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4133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45529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4133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45529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Kiểm Thử Nghiệp Vụ (Biên &amp; Tương Đương)</a:t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485775" y="1931193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Sử dụng file testData.js để quản lý các test cases.</a:t>
            </a:r>
            <a:endParaRPr/>
          </a:p>
        </p:txBody>
      </p:sp>
      <p:graphicFrame>
        <p:nvGraphicFramePr>
          <p:cNvPr id="291" name="Google Shape;291;p23"/>
          <p:cNvGraphicFramePr/>
          <p:nvPr/>
        </p:nvGraphicFramePr>
        <p:xfrm>
          <a:off x="485775" y="26169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{FF41AEA1-5BE4-46E8-A930-A08586C1D4F1}</a:tableStyleId>
              </a:tblPr>
              <a:tblGrid>
                <a:gridCol w="2244025"/>
                <a:gridCol w="3366050"/>
                <a:gridCol w="2244025"/>
                <a:gridCol w="3366350"/>
              </a:tblGrid>
              <a:tr h="6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Case Study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Kịch Bản (Input)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Giá Trị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Kết Quả Mong Đợi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Giá Sản Phẩm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Biên Dưới (Invalid)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472B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400 Bad Request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Biên (Special)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201 Created (Quà tặng)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Giá Trị Thường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201 Created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Hợp lệ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u@d.com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Pass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Không hợp lệ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user@, 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F472B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Fail validation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23"/>
          <p:cNvSpPr/>
          <p:nvPr/>
        </p:nvSpPr>
        <p:spPr>
          <a:xfrm>
            <a:off x="485775" y="3198018"/>
            <a:ext cx="224403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2729805" y="3198018"/>
            <a:ext cx="336604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095851" y="3198018"/>
            <a:ext cx="224403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8339881" y="3198018"/>
            <a:ext cx="336634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485775" y="5012531"/>
            <a:ext cx="22440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2729805" y="3812381"/>
            <a:ext cx="33660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095851" y="3812381"/>
            <a:ext cx="22440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8339881" y="3812381"/>
            <a:ext cx="33663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2729805" y="4412456"/>
            <a:ext cx="33660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6095851" y="4412456"/>
            <a:ext cx="22440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8339881" y="4412456"/>
            <a:ext cx="33663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2729805" y="5012531"/>
            <a:ext cx="33660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6095851" y="5012531"/>
            <a:ext cx="22440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8339881" y="5012531"/>
            <a:ext cx="33663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485775" y="6207918"/>
            <a:ext cx="22440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2729805" y="5612606"/>
            <a:ext cx="33660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6095851" y="5612606"/>
            <a:ext cx="22440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8339881" y="5612606"/>
            <a:ext cx="33663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0" name="Google Shape;3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756" y="462676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756" y="342661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756" y="402669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756" y="522684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756" y="582691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756" y="342661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756" y="402669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756" y="462676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756" y="522684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756" y="5826918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Chiến Lược Tự Động Hóa (Automation)</a:t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485775" y="25241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Cấu trúc chuẩn của một Test Case trong Jest: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485775" y="3686175"/>
            <a:ext cx="112204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1605706" y="3590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424063" y="4010025"/>
            <a:ext cx="25918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1. Setup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485775" y="4524375"/>
            <a:ext cx="246846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Tạo dữ liệu mẫu (User, Product) trong beforeAll.</a:t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4523035" y="3590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3341392" y="4010025"/>
            <a:ext cx="25918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2. Execute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3403103" y="4524375"/>
            <a:ext cx="246846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Sử dụng supertest gọi API (POST/GET) thực tế.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7440364" y="3590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6258721" y="4010025"/>
            <a:ext cx="25918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3. Assert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6320432" y="4524375"/>
            <a:ext cx="246846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 sánh kết quả thực tế vs mong đợi bằng expect().</a:t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10357693" y="3590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472B6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9176050" y="4010025"/>
            <a:ext cx="25918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4. Teardown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9237761" y="4524375"/>
            <a:ext cx="246846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Dọn dẹp/Xóa dữ liệu mẫu trong afterAll.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238375"/>
            <a:ext cx="54197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Kiểm Thử Đơn Vị (Unit Test)</a:t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485775" y="2695575"/>
            <a:ext cx="569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Đối Tượng &amp; Phạm Vi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485775" y="3209925"/>
            <a:ext cx="5419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Tập trung vào các hàm xử lý logic nhỏ, tách biệt, không dính líu đến I/O (Database, Network).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6581775" y="2533650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Lưu Ý Quan Trọng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6581775" y="4829175"/>
            <a:ext cx="48291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it('should return 400 if user already exists', ...)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it('should calculate discount correctly', ...)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771525" y="401002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Hàm tính toán tổng tiền.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771525" y="442912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Hàm format ngày tháng.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771525" y="484822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Validation logic trong Models.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6867525" y="3000375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Cô lập (Isolation):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Unit test lý tưởng không nên phụ thuộc DB. Tuy nhiên, đồ án này ưu tiên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Integration Test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với Real DB để sát thực tế.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6867525" y="402907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Naming Convention: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Tên test phải rõ ràng hành vi.</a:t>
            </a:r>
            <a:endParaRPr/>
          </a:p>
        </p:txBody>
      </p:sp>
      <p:pic>
        <p:nvPicPr>
          <p:cNvPr descr="image.png" id="356" name="Google Shape;3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010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4291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8482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3000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40290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62" y="23145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Ứng Dụng GenAI Trong Kiểm Thử</a:t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8" name="Google Shape;3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6862" y="2352675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 txBox="1"/>
          <p:nvPr/>
        </p:nvSpPr>
        <p:spPr>
          <a:xfrm>
            <a:off x="6286500" y="2662237"/>
            <a:ext cx="569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Vai trò của ChatGPT/Copilot</a:t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6572250" y="312896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Edge Cases: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Gợi ý các trường hợp biên hiếm gặp mà con người dễ bỏ sót.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6572250" y="385286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Mock Data: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Sinh hàng loạt dữ liệu giả phong phú (Tên, địa chỉ, email ngẫu nhiên) cho Faker.js.</a:t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6572250" y="457676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Debug: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Giải thích nhanh các Error logs phức tạp khi test fail.</a:t>
            </a:r>
            <a:endParaRPr/>
          </a:p>
        </p:txBody>
      </p:sp>
      <p:pic>
        <p:nvPicPr>
          <p:cNvPr descr="image.png" id="373" name="Google Shape;37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1289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852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5767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4262" y="2773709"/>
            <a:ext cx="4943475" cy="2186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7"/>
          <p:cNvSpPr txBox="1"/>
          <p:nvPr/>
        </p:nvSpPr>
        <p:spPr>
          <a:xfrm>
            <a:off x="3500675" y="1897409"/>
            <a:ext cx="51906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TEST PASSED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3919537" y="3116609"/>
            <a:ext cx="4352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Suites: </a:t>
            </a:r>
            <a:r>
              <a:rPr b="1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 passed</a:t>
            </a:r>
            <a:r>
              <a:rPr b="0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6 total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3919537" y="3469034"/>
            <a:ext cx="4352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Tests: </a:t>
            </a:r>
            <a:r>
              <a:rPr b="1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107 passed</a:t>
            </a:r>
            <a:r>
              <a:rPr b="0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107 total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3919537" y="3821459"/>
            <a:ext cx="4352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Time: </a:t>
            </a:r>
            <a:r>
              <a:rPr b="1" i="0" lang="en-US" sz="15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~23s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3919537" y="4269134"/>
            <a:ext cx="4352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 thống chạy ổn định, không có test fail trong nhánh chính.</a:t>
            </a:r>
            <a:endParaRPr/>
          </a:p>
        </p:txBody>
      </p:sp>
      <p:pic>
        <p:nvPicPr>
          <p:cNvPr descr="image.png" id="387" name="Google Shape;3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9537" y="3173759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9537" y="352618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9537" y="3878609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137" y="3162300"/>
            <a:ext cx="2292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137" y="3905250"/>
            <a:ext cx="2292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137" y="4648200"/>
            <a:ext cx="2292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8137" y="5472112"/>
            <a:ext cx="2292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8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Báo Cáo Độ Bao Phủ (Coverage)</a:t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0" name="Google Shape;400;p28"/>
          <p:cNvGraphicFramePr/>
          <p:nvPr/>
        </p:nvGraphicFramePr>
        <p:xfrm>
          <a:off x="485775" y="205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{FF41AEA1-5BE4-46E8-A930-A08586C1D4F1}</a:tableStyleId>
              </a:tblPr>
              <a:tblGrid>
                <a:gridCol w="1379475"/>
                <a:gridCol w="2578000"/>
                <a:gridCol w="1462225"/>
              </a:tblGrid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Thành Phần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Độ Bao Phủ (Statements)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Đánh Giá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Xuất sắc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70.58%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Tốt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76.92%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Tốt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Controllers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b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50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36.4%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>
                          <a:solidFill>
                            <a:srgbClr val="F472B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Cần cải thiện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28"/>
          <p:cNvSpPr txBox="1"/>
          <p:nvPr/>
        </p:nvSpPr>
        <p:spPr>
          <a:xfrm>
            <a:off x="6286500" y="2761357"/>
            <a:ext cx="54197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~44%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6286500" y="3875782"/>
            <a:ext cx="5419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Tổng Thể (Statements)</a:t>
            </a:r>
            <a:endParaRPr/>
          </a:p>
        </p:txBody>
      </p:sp>
      <p:sp>
        <p:nvSpPr>
          <p:cNvPr id="403" name="Google Shape;403;p28"/>
          <p:cNvSpPr txBox="1"/>
          <p:nvPr/>
        </p:nvSpPr>
        <p:spPr>
          <a:xfrm>
            <a:off x="6286500" y="4561582"/>
            <a:ext cx="5419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Lý do thấp: Controllers chứa nhiều logic xử lý lỗi phức tạp chưa được cover hết (chủ yếu phủ Happy Path).</a:t>
            </a:r>
            <a:endParaRPr/>
          </a:p>
        </p:txBody>
      </p:sp>
      <p:sp>
        <p:nvSpPr>
          <p:cNvPr id="404" name="Google Shape;404;p28"/>
          <p:cNvSpPr/>
          <p:nvPr/>
        </p:nvSpPr>
        <p:spPr>
          <a:xfrm>
            <a:off x="485775" y="2943225"/>
            <a:ext cx="1379487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1865262" y="2943225"/>
            <a:ext cx="2578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4443263" y="2943225"/>
            <a:ext cx="146223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485775" y="3700462"/>
            <a:ext cx="1379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1865262" y="3700462"/>
            <a:ext cx="257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4443263" y="3700462"/>
            <a:ext cx="14622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485775" y="4443412"/>
            <a:ext cx="1379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1865262" y="4443412"/>
            <a:ext cx="257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4443263" y="4443412"/>
            <a:ext cx="14622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485775" y="5186362"/>
            <a:ext cx="1379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1865262" y="5186362"/>
            <a:ext cx="257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4443263" y="5186362"/>
            <a:ext cx="14622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2008137" y="3162300"/>
            <a:ext cx="2292250" cy="9525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2008137" y="3905250"/>
            <a:ext cx="1617761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2008137" y="4648200"/>
            <a:ext cx="1763166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2008137" y="5472112"/>
            <a:ext cx="834330" cy="95250"/>
          </a:xfrm>
          <a:prstGeom prst="roundRect">
            <a:avLst>
              <a:gd fmla="val 50000" name="adj"/>
            </a:avLst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432744"/>
            <a:ext cx="5419725" cy="309726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9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Báo Cáo Lỗi (Bugs) Đã Phát Hiện</a:t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771525" y="2314575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Bug 1: Giá Âm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cho phép tạo sản phẩm với giá âm (VD: -50$).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 Đã fix bằng Mongoose Validator.</a:t>
            </a:r>
            <a:endParaRPr/>
          </a:p>
        </p:txBody>
      </p:sp>
      <p:sp>
        <p:nvSpPr>
          <p:cNvPr id="428" name="Google Shape;428;p29"/>
          <p:cNvSpPr txBox="1"/>
          <p:nvPr/>
        </p:nvSpPr>
        <p:spPr>
          <a:xfrm>
            <a:off x="771525" y="3467100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Bug 2: Discount Vô Lý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cho phép tạo mã giảm giá &gt; 100%.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 Đã ghi nhận trong Product.test.js.</a:t>
            </a:r>
            <a:endParaRPr/>
          </a:p>
        </p:txBody>
      </p:sp>
      <p:sp>
        <p:nvSpPr>
          <p:cNvPr id="429" name="Google Shape;429;p29"/>
          <p:cNvSpPr txBox="1"/>
          <p:nvPr/>
        </p:nvSpPr>
        <p:spPr>
          <a:xfrm>
            <a:off x="771525" y="4619625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Bug 3: Sai HTTP Status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Trả về 200 OK với body rỗng thay vì 404 Not Found khi tìm ID không tồn tại.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image.png" id="430" name="Google Shape;43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5362" y="27280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9"/>
          <p:cNvSpPr txBox="1"/>
          <p:nvPr/>
        </p:nvSpPr>
        <p:spPr>
          <a:xfrm>
            <a:off x="6581775" y="3909119"/>
            <a:ext cx="48291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Automation Test giúp phát hiện lỗi logic ngay khi code, giảm thiểu chi phí sửa lỗi (Shift Left Testing).</a:t>
            </a:r>
            <a:endParaRPr/>
          </a:p>
        </p:txBody>
      </p:sp>
      <p:pic>
        <p:nvPicPr>
          <p:cNvPr descr="image.png" id="432" name="Google Shape;43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314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4671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6196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9" name="Google Shape;4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2274540"/>
            <a:ext cx="3549699" cy="3413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1224" y="2274540"/>
            <a:ext cx="3549699" cy="3413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6674" y="2274540"/>
            <a:ext cx="3549699" cy="341367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0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Báo Cáo Tổng Kết</a:t>
            </a:r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1346150" y="2569815"/>
            <a:ext cx="18288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1208037" y="3808065"/>
            <a:ext cx="2105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Chức Năng Cốt Lõi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781050" y="4592835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Hoàn thành kiểm thử Auth, Product, Order.</a:t>
            </a:r>
            <a:endParaRPr/>
          </a:p>
        </p:txBody>
      </p:sp>
      <p:sp>
        <p:nvSpPr>
          <p:cNvPr id="447" name="Google Shape;447;p30"/>
          <p:cNvSpPr txBox="1"/>
          <p:nvPr/>
        </p:nvSpPr>
        <p:spPr>
          <a:xfrm>
            <a:off x="4724400" y="2569815"/>
            <a:ext cx="27432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&lt;200ms</a:t>
            </a:r>
            <a:endParaRPr/>
          </a:p>
        </p:txBody>
      </p:sp>
      <p:sp>
        <p:nvSpPr>
          <p:cNvPr id="448" name="Google Shape;448;p30"/>
          <p:cNvSpPr txBox="1"/>
          <p:nvPr/>
        </p:nvSpPr>
        <p:spPr>
          <a:xfrm>
            <a:off x="5500687" y="3808065"/>
            <a:ext cx="119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Độ Trễ API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4616499" y="4592835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Trung bình phản hồi dưới 200ms (Load Test).</a:t>
            </a:r>
            <a:endParaRPr/>
          </a:p>
        </p:txBody>
      </p:sp>
      <p:sp>
        <p:nvSpPr>
          <p:cNvPr id="450" name="Google Shape;450;p30"/>
          <p:cNvSpPr txBox="1"/>
          <p:nvPr/>
        </p:nvSpPr>
        <p:spPr>
          <a:xfrm>
            <a:off x="9498062" y="3446115"/>
            <a:ext cx="8667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Tài Liệu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8451949" y="4230885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Đầy đủ Test Plan, Test Cases, Bug Reports.</a:t>
            </a:r>
            <a:endParaRPr/>
          </a:p>
        </p:txBody>
      </p:sp>
      <p:pic>
        <p:nvPicPr>
          <p:cNvPr descr="image.png" id="452" name="Google Shape;45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7599" y="2626965"/>
            <a:ext cx="6477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"/>
          <p:cNvSpPr/>
          <p:nvPr/>
        </p:nvSpPr>
        <p:spPr>
          <a:xfrm>
            <a:off x="5619750" y="2106959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242887" y="2430809"/>
            <a:ext cx="1170622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KẾT LUẬN</a:t>
            </a:r>
            <a:endParaRPr/>
          </a:p>
        </p:txBody>
      </p:sp>
      <p:sp>
        <p:nvSpPr>
          <p:cNvPr id="459" name="Google Shape;459;p31"/>
          <p:cNvSpPr txBox="1"/>
          <p:nvPr/>
        </p:nvSpPr>
        <p:spPr>
          <a:xfrm>
            <a:off x="2286000" y="3470820"/>
            <a:ext cx="76200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Đồ án đã xây dựng thành công quy trình kiểm thử tự động cho hệ thống MERN Stack, đảm bảo chất lượng ở mức độ Tích hợp (Integration) và Hệ thống (System).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Hướng Phát Triển</a:t>
            </a:r>
            <a:endParaRPr/>
          </a:p>
        </p:txBody>
      </p:sp>
      <p:sp>
        <p:nvSpPr>
          <p:cNvPr id="465" name="Google Shape;465;p32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771525" y="1819275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Cải thiện Coverage: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Nâng độ bao phủ Controllers lên &gt; 80% (Test thêm các case lỗi Server 500).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771525" y="3019425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 E2E: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Bổ sung kiểm thử giao diện bằng Cypress hoặc Selenium.</a:t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771525" y="4219575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Mocking nâng cao: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Áp dụng Mock Service Worker (MSW) để test Frontend độc lập.</a:t>
            </a:r>
            <a:endParaRPr/>
          </a:p>
        </p:txBody>
      </p:sp>
      <p:sp>
        <p:nvSpPr>
          <p:cNvPr id="469" name="Google Shape;469;p32"/>
          <p:cNvSpPr txBox="1"/>
          <p:nvPr/>
        </p:nvSpPr>
        <p:spPr>
          <a:xfrm>
            <a:off x="771525" y="5419725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 chuyên sâu: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Bổ sung test SQL Injection (NoSQL Injection) và XSS.</a:t>
            </a:r>
            <a:endParaRPr/>
          </a:p>
        </p:txBody>
      </p:sp>
      <p:pic>
        <p:nvPicPr>
          <p:cNvPr descr="image.png" id="470" name="Google Shape;4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1987" y="3267075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819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0194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219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197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/>
        </p:nvSpPr>
        <p:spPr>
          <a:xfrm>
            <a:off x="485775" y="485775"/>
            <a:ext cx="11706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485775" y="1190625"/>
            <a:ext cx="112204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485775" y="1631900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485775" y="2416671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485775" y="3201441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485775" y="3986212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3"/>
          <p:cNvSpPr/>
          <p:nvPr/>
        </p:nvSpPr>
        <p:spPr>
          <a:xfrm>
            <a:off x="485775" y="4770983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6" name="Google Shape;4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63190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3"/>
          <p:cNvSpPr/>
          <p:nvPr/>
        </p:nvSpPr>
        <p:spPr>
          <a:xfrm>
            <a:off x="485775" y="240714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485775" y="240714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9" name="Google Shape;4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2416671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3"/>
          <p:cNvSpPr/>
          <p:nvPr/>
        </p:nvSpPr>
        <p:spPr>
          <a:xfrm>
            <a:off x="485775" y="319191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485775" y="319191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2" name="Google Shape;4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3201441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3"/>
          <p:cNvSpPr/>
          <p:nvPr/>
        </p:nvSpPr>
        <p:spPr>
          <a:xfrm>
            <a:off x="485775" y="397668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485775" y="397668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5" name="Google Shape;4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3986212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/>
          <p:nvPr/>
        </p:nvSpPr>
        <p:spPr>
          <a:xfrm>
            <a:off x="485775" y="476145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485775" y="476145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8" name="Google Shape;4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4770983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3"/>
          <p:cNvSpPr/>
          <p:nvPr/>
        </p:nvSpPr>
        <p:spPr>
          <a:xfrm>
            <a:off x="485775" y="554622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3"/>
          <p:cNvSpPr/>
          <p:nvPr/>
        </p:nvSpPr>
        <p:spPr>
          <a:xfrm>
            <a:off x="485775" y="554622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1" name="Google Shape;5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5555753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7813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3"/>
          <p:cNvSpPr txBox="1"/>
          <p:nvPr/>
        </p:nvSpPr>
        <p:spPr>
          <a:xfrm>
            <a:off x="1581150" y="1774775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https://cdn.shopaccino.com/igmguru/products/mern-stack-course-online-5429997552944542_l.jpg?v=546</a:t>
            </a:r>
            <a:endParaRPr/>
          </a:p>
        </p:txBody>
      </p:sp>
      <p:sp>
        <p:nvSpPr>
          <p:cNvPr id="504" name="Google Shape;504;p33"/>
          <p:cNvSpPr txBox="1"/>
          <p:nvPr/>
        </p:nvSpPr>
        <p:spPr>
          <a:xfrm>
            <a:off x="1581150" y="2020490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www.igmguru.com</a:t>
            </a:r>
            <a:endParaRPr/>
          </a:p>
        </p:txBody>
      </p:sp>
      <p:pic>
        <p:nvPicPr>
          <p:cNvPr descr="image.png" id="505" name="Google Shape;50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5660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3"/>
          <p:cNvSpPr txBox="1"/>
          <p:nvPr/>
        </p:nvSpPr>
        <p:spPr>
          <a:xfrm>
            <a:off x="1581150" y="2559546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https://media.geeksforgeeks.org/wp-content/uploads/20231030123258/software-Testing-SDLC-V-model.webp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1581150" y="2805261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descr="image.png" id="508" name="Google Shape;50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3508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3"/>
          <p:cNvSpPr txBox="1"/>
          <p:nvPr/>
        </p:nvSpPr>
        <p:spPr>
          <a:xfrm>
            <a:off x="1581150" y="3344316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https://grafana.com/media/blog/ways-to-visualize-k6-results/screenshot-annotated-k6-results-analysis.png</a:t>
            </a:r>
            <a:endParaRPr/>
          </a:p>
        </p:txBody>
      </p:sp>
      <p:sp>
        <p:nvSpPr>
          <p:cNvPr id="510" name="Google Shape;510;p33"/>
          <p:cNvSpPr txBox="1"/>
          <p:nvPr/>
        </p:nvSpPr>
        <p:spPr>
          <a:xfrm>
            <a:off x="1581150" y="3590032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grafana.com</a:t>
            </a:r>
            <a:endParaRPr/>
          </a:p>
        </p:txBody>
      </p:sp>
      <p:pic>
        <p:nvPicPr>
          <p:cNvPr descr="image.png" id="511" name="Google Shape;51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41356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3"/>
          <p:cNvSpPr txBox="1"/>
          <p:nvPr/>
        </p:nvSpPr>
        <p:spPr>
          <a:xfrm>
            <a:off x="1581150" y="4129087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https://d2908q01vomqb2.cloudfront.net/7719a1c782a1ba91c031a682a0a2f8658209adbf/2022/03/27/1-ArchitectureDiagram.png</a:t>
            </a:r>
            <a:endParaRPr/>
          </a:p>
        </p:txBody>
      </p:sp>
      <p:sp>
        <p:nvSpPr>
          <p:cNvPr id="513" name="Google Shape;513;p33"/>
          <p:cNvSpPr txBox="1"/>
          <p:nvPr/>
        </p:nvSpPr>
        <p:spPr>
          <a:xfrm>
            <a:off x="1581150" y="4374802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descr="image.png" id="514" name="Google Shape;51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775" y="4920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3"/>
          <p:cNvSpPr txBox="1"/>
          <p:nvPr/>
        </p:nvSpPr>
        <p:spPr>
          <a:xfrm>
            <a:off x="1581150" y="4913858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https://img.freepik.com/premium-vector/ai-coding-robot-assistant-programming-code-debugging-vector-illustration-concept_694862-52.jpg</a:t>
            </a:r>
            <a:endParaRPr/>
          </a:p>
        </p:txBody>
      </p:sp>
      <p:sp>
        <p:nvSpPr>
          <p:cNvPr id="516" name="Google Shape;516;p33"/>
          <p:cNvSpPr txBox="1"/>
          <p:nvPr/>
        </p:nvSpPr>
        <p:spPr>
          <a:xfrm>
            <a:off x="1581150" y="5159573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517" name="Google Shape;51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775" y="57051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3"/>
          <p:cNvSpPr txBox="1"/>
          <p:nvPr/>
        </p:nvSpPr>
        <p:spPr>
          <a:xfrm>
            <a:off x="1581150" y="5698628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https://i.sstatic.net/OFO6S.png</a:t>
            </a:r>
            <a:endParaRPr/>
          </a:p>
        </p:txBody>
      </p:sp>
      <p:sp>
        <p:nvSpPr>
          <p:cNvPr id="519" name="Google Shape;519;p33"/>
          <p:cNvSpPr txBox="1"/>
          <p:nvPr/>
        </p:nvSpPr>
        <p:spPr>
          <a:xfrm>
            <a:off x="1581150" y="5944344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stackoverflow.com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