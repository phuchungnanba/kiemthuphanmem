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anva Sans Bold" charset="1" panose="020B0803030501040103"/>
      <p:regular r:id="rId20"/>
    </p:embeddedFont>
    <p:embeddedFont>
      <p:font typeface="Canva Sans" charset="1" panose="020B05030305010401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CF60"/>
        </a:solidFill>
      </p:bgPr>
    </p:bg>
    <p:spTree>
      <p:nvGrpSpPr>
        <p:cNvPr id="1" name=""/>
        <p:cNvGrpSpPr/>
        <p:nvPr/>
      </p:nvGrpSpPr>
      <p:grpSpPr>
        <a:xfrm>
          <a:off x="0" y="0"/>
          <a:ext cx="0" cy="0"/>
          <a:chOff x="0" y="0"/>
          <a:chExt cx="0" cy="0"/>
        </a:xfrm>
      </p:grpSpPr>
      <p:grpSp>
        <p:nvGrpSpPr>
          <p:cNvPr name="Group 2" id="2"/>
          <p:cNvGrpSpPr/>
          <p:nvPr/>
        </p:nvGrpSpPr>
        <p:grpSpPr>
          <a:xfrm rot="0">
            <a:off x="-460312" y="-201041"/>
            <a:ext cx="19208624" cy="10689082"/>
            <a:chOff x="0" y="0"/>
            <a:chExt cx="25611499" cy="14252110"/>
          </a:xfrm>
        </p:grpSpPr>
        <p:sp>
          <p:nvSpPr>
            <p:cNvPr name="Freeform 3" id="3"/>
            <p:cNvSpPr/>
            <p:nvPr/>
          </p:nvSpPr>
          <p:spPr>
            <a:xfrm flipH="false" flipV="false" rot="0">
              <a:off x="0"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359389"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8854870" y="3734155"/>
            <a:ext cx="8864188" cy="5066448"/>
            <a:chOff x="0" y="0"/>
            <a:chExt cx="3845713" cy="2198070"/>
          </a:xfrm>
        </p:grpSpPr>
        <p:sp>
          <p:nvSpPr>
            <p:cNvPr name="Freeform 6" id="6"/>
            <p:cNvSpPr/>
            <p:nvPr/>
          </p:nvSpPr>
          <p:spPr>
            <a:xfrm flipH="false" flipV="false" rot="0">
              <a:off x="0" y="0"/>
              <a:ext cx="3845713" cy="2198070"/>
            </a:xfrm>
            <a:custGeom>
              <a:avLst/>
              <a:gdLst/>
              <a:ahLst/>
              <a:cxnLst/>
              <a:rect r="r" b="b" t="t" l="l"/>
              <a:pathLst>
                <a:path h="2198070" w="3845713">
                  <a:moveTo>
                    <a:pt x="27075" y="0"/>
                  </a:moveTo>
                  <a:lnTo>
                    <a:pt x="3818638" y="0"/>
                  </a:lnTo>
                  <a:cubicBezTo>
                    <a:pt x="3833591" y="0"/>
                    <a:pt x="3845713" y="12122"/>
                    <a:pt x="3845713" y="27075"/>
                  </a:cubicBezTo>
                  <a:lnTo>
                    <a:pt x="3845713" y="2170995"/>
                  </a:lnTo>
                  <a:cubicBezTo>
                    <a:pt x="3845713" y="2185948"/>
                    <a:pt x="3833591" y="2198070"/>
                    <a:pt x="3818638" y="2198070"/>
                  </a:cubicBezTo>
                  <a:lnTo>
                    <a:pt x="27075" y="2198070"/>
                  </a:lnTo>
                  <a:cubicBezTo>
                    <a:pt x="12122" y="2198070"/>
                    <a:pt x="0" y="2185948"/>
                    <a:pt x="0" y="2170995"/>
                  </a:cubicBezTo>
                  <a:lnTo>
                    <a:pt x="0" y="27075"/>
                  </a:lnTo>
                  <a:cubicBezTo>
                    <a:pt x="0" y="12122"/>
                    <a:pt x="12122" y="0"/>
                    <a:pt x="27075" y="0"/>
                  </a:cubicBezTo>
                  <a:close/>
                </a:path>
              </a:pathLst>
            </a:custGeom>
            <a:solidFill>
              <a:srgbClr val="071330"/>
            </a:solidFill>
          </p:spPr>
        </p:sp>
        <p:sp>
          <p:nvSpPr>
            <p:cNvPr name="TextBox 7" id="7"/>
            <p:cNvSpPr txBox="true"/>
            <p:nvPr/>
          </p:nvSpPr>
          <p:spPr>
            <a:xfrm>
              <a:off x="0" y="-38100"/>
              <a:ext cx="3845713" cy="223617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162219" y="3983432"/>
            <a:ext cx="210976" cy="210976"/>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name="Group 10" id="10"/>
          <p:cNvGrpSpPr/>
          <p:nvPr/>
        </p:nvGrpSpPr>
        <p:grpSpPr>
          <a:xfrm rot="0">
            <a:off x="9476662" y="3983432"/>
            <a:ext cx="210976" cy="210976"/>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name="Group 12" id="12"/>
          <p:cNvGrpSpPr/>
          <p:nvPr/>
        </p:nvGrpSpPr>
        <p:grpSpPr>
          <a:xfrm rot="0">
            <a:off x="9792413" y="3983432"/>
            <a:ext cx="210976" cy="210976"/>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grpSp>
        <p:nvGrpSpPr>
          <p:cNvPr name="Group 14" id="14"/>
          <p:cNvGrpSpPr/>
          <p:nvPr/>
        </p:nvGrpSpPr>
        <p:grpSpPr>
          <a:xfrm rot="0">
            <a:off x="11261343" y="1582889"/>
            <a:ext cx="179985" cy="179985"/>
            <a:chOff x="0" y="0"/>
            <a:chExt cx="6350000" cy="6350000"/>
          </a:xfrm>
        </p:grpSpPr>
        <p:sp>
          <p:nvSpPr>
            <p:cNvPr name="Freeform 15" id="1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sp>
        <p:nvSpPr>
          <p:cNvPr name="TextBox 16" id="16"/>
          <p:cNvSpPr txBox="true"/>
          <p:nvPr/>
        </p:nvSpPr>
        <p:spPr>
          <a:xfrm rot="0">
            <a:off x="9564612" y="2049500"/>
            <a:ext cx="7444705" cy="884555"/>
          </a:xfrm>
          <a:prstGeom prst="rect">
            <a:avLst/>
          </a:prstGeom>
        </p:spPr>
        <p:txBody>
          <a:bodyPr anchor="t" rtlCol="false" tIns="0" lIns="0" bIns="0" rIns="0">
            <a:spAutoFit/>
          </a:bodyPr>
          <a:lstStyle/>
          <a:p>
            <a:pPr algn="l">
              <a:lnSpc>
                <a:spcPts val="6760"/>
              </a:lnSpc>
            </a:pPr>
            <a:r>
              <a:rPr lang="en-US" sz="6500" b="true">
                <a:solidFill>
                  <a:srgbClr val="071330"/>
                </a:solidFill>
                <a:latin typeface="Canva Sans Bold"/>
                <a:ea typeface="Canva Sans Bold"/>
                <a:cs typeface="Canva Sans Bold"/>
                <a:sym typeface="Canva Sans Bold"/>
              </a:rPr>
              <a:t>GIỚI THIỆU NHÓM</a:t>
            </a:r>
          </a:p>
        </p:txBody>
      </p:sp>
      <p:sp>
        <p:nvSpPr>
          <p:cNvPr name="TextBox 17" id="17"/>
          <p:cNvSpPr txBox="true"/>
          <p:nvPr/>
        </p:nvSpPr>
        <p:spPr>
          <a:xfrm rot="0">
            <a:off x="9373195" y="4988309"/>
            <a:ext cx="7668203" cy="2931445"/>
          </a:xfrm>
          <a:prstGeom prst="rect">
            <a:avLst/>
          </a:prstGeom>
        </p:spPr>
        <p:txBody>
          <a:bodyPr anchor="t" rtlCol="false" tIns="0" lIns="0" bIns="0" rIns="0">
            <a:spAutoFit/>
          </a:bodyPr>
          <a:lstStyle/>
          <a:p>
            <a:pPr algn="l">
              <a:lnSpc>
                <a:spcPts val="2750"/>
              </a:lnSpc>
            </a:pPr>
            <a:r>
              <a:rPr lang="en-US" sz="2217" b="true">
                <a:solidFill>
                  <a:srgbClr val="FFFFFF"/>
                </a:solidFill>
                <a:latin typeface="Canva Sans Bold"/>
                <a:ea typeface="Canva Sans Bold"/>
                <a:cs typeface="Canva Sans Bold"/>
                <a:sym typeface="Canva Sans Bold"/>
              </a:rPr>
              <a:t>CÁC THÀNH VIÊN:</a:t>
            </a:r>
          </a:p>
          <a:p>
            <a:pPr algn="l">
              <a:lnSpc>
                <a:spcPts val="2750"/>
              </a:lnSpc>
            </a:pPr>
          </a:p>
          <a:p>
            <a:pPr algn="ctr">
              <a:lnSpc>
                <a:spcPts val="2750"/>
              </a:lnSpc>
            </a:pPr>
          </a:p>
          <a:p>
            <a:pPr algn="ctr">
              <a:lnSpc>
                <a:spcPts val="3000"/>
              </a:lnSpc>
            </a:pPr>
            <a:r>
              <a:rPr lang="en-US" sz="2420">
                <a:solidFill>
                  <a:srgbClr val="FFFFFF"/>
                </a:solidFill>
                <a:latin typeface="Canva Sans"/>
                <a:ea typeface="Canva Sans"/>
                <a:cs typeface="Canva Sans"/>
                <a:sym typeface="Canva Sans"/>
              </a:rPr>
              <a:t>  </a:t>
            </a:r>
            <a:r>
              <a:rPr lang="en-US" sz="2420">
                <a:solidFill>
                  <a:srgbClr val="FFFFFF"/>
                </a:solidFill>
                <a:latin typeface="Canva Sans"/>
                <a:ea typeface="Canva Sans"/>
                <a:cs typeface="Canva Sans"/>
                <a:sym typeface="Canva Sans"/>
              </a:rPr>
              <a:t>Đinh Trung Hội      -   3122411058</a:t>
            </a:r>
          </a:p>
          <a:p>
            <a:pPr algn="ctr">
              <a:lnSpc>
                <a:spcPts val="3000"/>
              </a:lnSpc>
            </a:pPr>
          </a:p>
          <a:p>
            <a:pPr algn="ctr">
              <a:lnSpc>
                <a:spcPts val="3000"/>
              </a:lnSpc>
            </a:pPr>
            <a:r>
              <a:rPr lang="en-US" sz="2420">
                <a:solidFill>
                  <a:srgbClr val="FFFFFF"/>
                </a:solidFill>
                <a:latin typeface="Canva Sans"/>
                <a:ea typeface="Canva Sans"/>
                <a:cs typeface="Canva Sans"/>
                <a:sym typeface="Canva Sans"/>
              </a:rPr>
              <a:t>Nguyễn Hãi Đăng   -  3122411031</a:t>
            </a:r>
          </a:p>
          <a:p>
            <a:pPr algn="ctr">
              <a:lnSpc>
                <a:spcPts val="3000"/>
              </a:lnSpc>
            </a:pPr>
          </a:p>
          <a:p>
            <a:pPr algn="ctr">
              <a:lnSpc>
                <a:spcPts val="3000"/>
              </a:lnSpc>
            </a:pPr>
            <a:r>
              <a:rPr lang="en-US" sz="2420">
                <a:solidFill>
                  <a:srgbClr val="FFFFFF"/>
                </a:solidFill>
                <a:latin typeface="Canva Sans"/>
                <a:ea typeface="Canva Sans"/>
                <a:cs typeface="Canva Sans"/>
                <a:sym typeface="Canva Sans"/>
              </a:rPr>
              <a:t>Huỳnh Phúc Hưng -  3122411073</a:t>
            </a:r>
          </a:p>
        </p:txBody>
      </p:sp>
      <p:grpSp>
        <p:nvGrpSpPr>
          <p:cNvPr name="Group 18" id="18"/>
          <p:cNvGrpSpPr/>
          <p:nvPr/>
        </p:nvGrpSpPr>
        <p:grpSpPr>
          <a:xfrm rot="0">
            <a:off x="656370" y="4058680"/>
            <a:ext cx="6192505" cy="3511849"/>
            <a:chOff x="0" y="0"/>
            <a:chExt cx="2744378" cy="1556372"/>
          </a:xfrm>
        </p:grpSpPr>
        <p:sp>
          <p:nvSpPr>
            <p:cNvPr name="Freeform 19" id="19"/>
            <p:cNvSpPr/>
            <p:nvPr/>
          </p:nvSpPr>
          <p:spPr>
            <a:xfrm flipH="false" flipV="false" rot="0">
              <a:off x="0" y="0"/>
              <a:ext cx="2744378" cy="1556372"/>
            </a:xfrm>
            <a:custGeom>
              <a:avLst/>
              <a:gdLst/>
              <a:ahLst/>
              <a:cxnLst/>
              <a:rect r="r" b="b" t="t" l="l"/>
              <a:pathLst>
                <a:path h="1556372" w="2744378">
                  <a:moveTo>
                    <a:pt x="63761" y="0"/>
                  </a:moveTo>
                  <a:lnTo>
                    <a:pt x="2680618" y="0"/>
                  </a:lnTo>
                  <a:cubicBezTo>
                    <a:pt x="2715832" y="0"/>
                    <a:pt x="2744378" y="28547"/>
                    <a:pt x="2744378" y="63761"/>
                  </a:cubicBezTo>
                  <a:lnTo>
                    <a:pt x="2744378" y="1492612"/>
                  </a:lnTo>
                  <a:cubicBezTo>
                    <a:pt x="2744378" y="1527826"/>
                    <a:pt x="2715832" y="1556372"/>
                    <a:pt x="2680618" y="1556372"/>
                  </a:cubicBezTo>
                  <a:lnTo>
                    <a:pt x="63761" y="1556372"/>
                  </a:lnTo>
                  <a:cubicBezTo>
                    <a:pt x="28547" y="1556372"/>
                    <a:pt x="0" y="1527826"/>
                    <a:pt x="0" y="1492612"/>
                  </a:cubicBezTo>
                  <a:lnTo>
                    <a:pt x="0" y="63761"/>
                  </a:lnTo>
                  <a:cubicBezTo>
                    <a:pt x="0" y="28547"/>
                    <a:pt x="28547" y="0"/>
                    <a:pt x="63761" y="0"/>
                  </a:cubicBezTo>
                  <a:close/>
                </a:path>
              </a:pathLst>
            </a:custGeom>
            <a:solidFill>
              <a:srgbClr val="071330"/>
            </a:solidFill>
          </p:spPr>
        </p:sp>
        <p:sp>
          <p:nvSpPr>
            <p:cNvPr name="TextBox 20" id="20"/>
            <p:cNvSpPr txBox="true"/>
            <p:nvPr/>
          </p:nvSpPr>
          <p:spPr>
            <a:xfrm>
              <a:off x="0" y="-38100"/>
              <a:ext cx="2744378" cy="1594472"/>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4549159" y="7217863"/>
            <a:ext cx="3808812" cy="1552499"/>
            <a:chOff x="0" y="0"/>
            <a:chExt cx="2744378" cy="1118628"/>
          </a:xfrm>
        </p:grpSpPr>
        <p:sp>
          <p:nvSpPr>
            <p:cNvPr name="Freeform 22" id="22"/>
            <p:cNvSpPr/>
            <p:nvPr/>
          </p:nvSpPr>
          <p:spPr>
            <a:xfrm flipH="false" flipV="false" rot="0">
              <a:off x="0" y="0"/>
              <a:ext cx="2744378" cy="1118628"/>
            </a:xfrm>
            <a:custGeom>
              <a:avLst/>
              <a:gdLst/>
              <a:ahLst/>
              <a:cxnLst/>
              <a:rect r="r" b="b" t="t" l="l"/>
              <a:pathLst>
                <a:path h="1118628" w="2744378">
                  <a:moveTo>
                    <a:pt x="67077" y="0"/>
                  </a:moveTo>
                  <a:lnTo>
                    <a:pt x="2677301" y="0"/>
                  </a:lnTo>
                  <a:cubicBezTo>
                    <a:pt x="2714347" y="0"/>
                    <a:pt x="2744378" y="30031"/>
                    <a:pt x="2744378" y="67077"/>
                  </a:cubicBezTo>
                  <a:lnTo>
                    <a:pt x="2744378" y="1051551"/>
                  </a:lnTo>
                  <a:cubicBezTo>
                    <a:pt x="2744378" y="1088597"/>
                    <a:pt x="2714347" y="1118628"/>
                    <a:pt x="2677301" y="1118628"/>
                  </a:cubicBezTo>
                  <a:lnTo>
                    <a:pt x="67077" y="1118628"/>
                  </a:lnTo>
                  <a:cubicBezTo>
                    <a:pt x="30031" y="1118628"/>
                    <a:pt x="0" y="1088597"/>
                    <a:pt x="0" y="1051551"/>
                  </a:cubicBezTo>
                  <a:lnTo>
                    <a:pt x="0" y="67077"/>
                  </a:lnTo>
                  <a:cubicBezTo>
                    <a:pt x="0" y="30031"/>
                    <a:pt x="30031" y="0"/>
                    <a:pt x="67077" y="0"/>
                  </a:cubicBezTo>
                  <a:close/>
                </a:path>
              </a:pathLst>
            </a:custGeom>
            <a:solidFill>
              <a:srgbClr val="FFFFFF"/>
            </a:solidFill>
          </p:spPr>
        </p:sp>
        <p:sp>
          <p:nvSpPr>
            <p:cNvPr name="TextBox 23" id="23"/>
            <p:cNvSpPr txBox="true"/>
            <p:nvPr/>
          </p:nvSpPr>
          <p:spPr>
            <a:xfrm>
              <a:off x="0" y="-38100"/>
              <a:ext cx="2744378" cy="1156728"/>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007576" y="5001454"/>
            <a:ext cx="5579758" cy="1545439"/>
          </a:xfrm>
          <a:prstGeom prst="rect">
            <a:avLst/>
          </a:prstGeom>
        </p:spPr>
        <p:txBody>
          <a:bodyPr anchor="t" rtlCol="false" tIns="0" lIns="0" bIns="0" rIns="0">
            <a:spAutoFit/>
          </a:bodyPr>
          <a:lstStyle/>
          <a:p>
            <a:pPr algn="l">
              <a:lnSpc>
                <a:spcPts val="5933"/>
              </a:lnSpc>
            </a:pPr>
            <a:r>
              <a:rPr lang="en-US" sz="5704" b="true">
                <a:solidFill>
                  <a:srgbClr val="FFFFFF"/>
                </a:solidFill>
                <a:latin typeface="Canva Sans Bold"/>
                <a:ea typeface="Canva Sans Bold"/>
                <a:cs typeface="Canva Sans Bold"/>
                <a:sym typeface="Canva Sans Bold"/>
              </a:rPr>
              <a:t>Thương mại</a:t>
            </a:r>
          </a:p>
          <a:p>
            <a:pPr algn="l">
              <a:lnSpc>
                <a:spcPts val="5933"/>
              </a:lnSpc>
            </a:pPr>
            <a:r>
              <a:rPr lang="en-US" sz="5704" b="true">
                <a:solidFill>
                  <a:srgbClr val="FFFFFF"/>
                </a:solidFill>
                <a:latin typeface="Canva Sans Bold"/>
                <a:ea typeface="Canva Sans Bold"/>
                <a:cs typeface="Canva Sans Bold"/>
                <a:sym typeface="Canva Sans Bold"/>
              </a:rPr>
              <a:t>                Điện tử</a:t>
            </a:r>
          </a:p>
        </p:txBody>
      </p:sp>
      <p:sp>
        <p:nvSpPr>
          <p:cNvPr name="TextBox 25" id="25"/>
          <p:cNvSpPr txBox="true"/>
          <p:nvPr/>
        </p:nvSpPr>
        <p:spPr>
          <a:xfrm rot="0">
            <a:off x="5277697" y="7745384"/>
            <a:ext cx="2619274" cy="803651"/>
          </a:xfrm>
          <a:prstGeom prst="rect">
            <a:avLst/>
          </a:prstGeom>
        </p:spPr>
        <p:txBody>
          <a:bodyPr anchor="t" rtlCol="false" tIns="0" lIns="0" bIns="0" rIns="0">
            <a:spAutoFit/>
          </a:bodyPr>
          <a:lstStyle/>
          <a:p>
            <a:pPr algn="l">
              <a:lnSpc>
                <a:spcPts val="3101"/>
              </a:lnSpc>
            </a:pPr>
            <a:r>
              <a:rPr lang="en-US" sz="2981" b="true">
                <a:solidFill>
                  <a:srgbClr val="071330"/>
                </a:solidFill>
                <a:latin typeface="Canva Sans Bold"/>
                <a:ea typeface="Canva Sans Bold"/>
                <a:cs typeface="Canva Sans Bold"/>
                <a:sym typeface="Canva Sans Bold"/>
              </a:rPr>
              <a:t>Mobile</a:t>
            </a:r>
          </a:p>
          <a:p>
            <a:pPr algn="l">
              <a:lnSpc>
                <a:spcPts val="3101"/>
              </a:lnSpc>
            </a:pPr>
            <a:r>
              <a:rPr lang="en-US" sz="2981" b="true">
                <a:solidFill>
                  <a:srgbClr val="071330"/>
                </a:solidFill>
                <a:latin typeface="Canva Sans Bold"/>
                <a:ea typeface="Canva Sans Bold"/>
                <a:cs typeface="Canva Sans Bold"/>
                <a:sym typeface="Canva Sans Bold"/>
              </a:rPr>
              <a:t>                shop</a:t>
            </a:r>
          </a:p>
        </p:txBody>
      </p:sp>
      <p:sp>
        <p:nvSpPr>
          <p:cNvPr name="TextBox 26" id="26"/>
          <p:cNvSpPr txBox="true"/>
          <p:nvPr/>
        </p:nvSpPr>
        <p:spPr>
          <a:xfrm rot="0">
            <a:off x="826806" y="2049500"/>
            <a:ext cx="7444705" cy="884555"/>
          </a:xfrm>
          <a:prstGeom prst="rect">
            <a:avLst/>
          </a:prstGeom>
        </p:spPr>
        <p:txBody>
          <a:bodyPr anchor="t" rtlCol="false" tIns="0" lIns="0" bIns="0" rIns="0">
            <a:spAutoFit/>
          </a:bodyPr>
          <a:lstStyle/>
          <a:p>
            <a:pPr algn="ctr">
              <a:lnSpc>
                <a:spcPts val="6760"/>
              </a:lnSpc>
            </a:pPr>
            <a:r>
              <a:rPr lang="en-US" b="true" sz="6500">
                <a:solidFill>
                  <a:srgbClr val="071330"/>
                </a:solidFill>
                <a:latin typeface="Canva Sans Bold"/>
                <a:ea typeface="Canva Sans Bold"/>
                <a:cs typeface="Canva Sans Bold"/>
                <a:sym typeface="Canva Sans Bold"/>
              </a:rPr>
              <a:t>ĐỀ TÀI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6AC66B"/>
        </a:solidFill>
      </p:bgPr>
    </p:bg>
    <p:spTree>
      <p:nvGrpSpPr>
        <p:cNvPr id="1" name=""/>
        <p:cNvGrpSpPr/>
        <p:nvPr/>
      </p:nvGrpSpPr>
      <p:grpSpPr>
        <a:xfrm>
          <a:off x="0" y="0"/>
          <a:ext cx="0" cy="0"/>
          <a:chOff x="0" y="0"/>
          <a:chExt cx="0" cy="0"/>
        </a:xfrm>
      </p:grpSpPr>
      <p:grpSp>
        <p:nvGrpSpPr>
          <p:cNvPr name="Group 2" id="2"/>
          <p:cNvGrpSpPr/>
          <p:nvPr/>
        </p:nvGrpSpPr>
        <p:grpSpPr>
          <a:xfrm rot="0">
            <a:off x="206499" y="4225694"/>
            <a:ext cx="7921409" cy="4114800"/>
            <a:chOff x="0" y="0"/>
            <a:chExt cx="2744378" cy="1425576"/>
          </a:xfrm>
        </p:grpSpPr>
        <p:sp>
          <p:nvSpPr>
            <p:cNvPr name="Freeform 3" id="3"/>
            <p:cNvSpPr/>
            <p:nvPr/>
          </p:nvSpPr>
          <p:spPr>
            <a:xfrm flipH="false" flipV="false" rot="0">
              <a:off x="0" y="0"/>
              <a:ext cx="2744378" cy="1425575"/>
            </a:xfrm>
            <a:custGeom>
              <a:avLst/>
              <a:gdLst/>
              <a:ahLst/>
              <a:cxnLst/>
              <a:rect r="r" b="b" t="t" l="l"/>
              <a:pathLst>
                <a:path h="1425575" w="2744378">
                  <a:moveTo>
                    <a:pt x="32252" y="0"/>
                  </a:moveTo>
                  <a:lnTo>
                    <a:pt x="2712126" y="0"/>
                  </a:lnTo>
                  <a:cubicBezTo>
                    <a:pt x="2720680" y="0"/>
                    <a:pt x="2728883" y="3398"/>
                    <a:pt x="2734932" y="9446"/>
                  </a:cubicBezTo>
                  <a:cubicBezTo>
                    <a:pt x="2740980" y="15495"/>
                    <a:pt x="2744378" y="23698"/>
                    <a:pt x="2744378" y="32252"/>
                  </a:cubicBezTo>
                  <a:lnTo>
                    <a:pt x="2744378" y="1393323"/>
                  </a:lnTo>
                  <a:cubicBezTo>
                    <a:pt x="2744378" y="1401877"/>
                    <a:pt x="2740980" y="1410081"/>
                    <a:pt x="2734932" y="1416129"/>
                  </a:cubicBezTo>
                  <a:cubicBezTo>
                    <a:pt x="2728883" y="1422178"/>
                    <a:pt x="2720680" y="1425575"/>
                    <a:pt x="2712126" y="1425575"/>
                  </a:cubicBezTo>
                  <a:lnTo>
                    <a:pt x="32252" y="1425575"/>
                  </a:lnTo>
                  <a:cubicBezTo>
                    <a:pt x="14440" y="1425575"/>
                    <a:pt x="0" y="1411136"/>
                    <a:pt x="0" y="1393323"/>
                  </a:cubicBezTo>
                  <a:lnTo>
                    <a:pt x="0" y="32252"/>
                  </a:lnTo>
                  <a:cubicBezTo>
                    <a:pt x="0" y="23698"/>
                    <a:pt x="3398" y="15495"/>
                    <a:pt x="9446" y="9446"/>
                  </a:cubicBezTo>
                  <a:cubicBezTo>
                    <a:pt x="15495" y="3398"/>
                    <a:pt x="23698" y="0"/>
                    <a:pt x="32252" y="0"/>
                  </a:cubicBezTo>
                  <a:close/>
                </a:path>
              </a:pathLst>
            </a:custGeom>
            <a:solidFill>
              <a:srgbClr val="FFFFFF"/>
            </a:solidFill>
          </p:spPr>
        </p:sp>
        <p:sp>
          <p:nvSpPr>
            <p:cNvPr name="TextBox 4" id="4"/>
            <p:cNvSpPr txBox="true"/>
            <p:nvPr/>
          </p:nvSpPr>
          <p:spPr>
            <a:xfrm>
              <a:off x="0" y="-38100"/>
              <a:ext cx="2744378" cy="146367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60312" y="-201041"/>
            <a:ext cx="19208624" cy="10689082"/>
            <a:chOff x="0" y="0"/>
            <a:chExt cx="25611499" cy="14252110"/>
          </a:xfrm>
        </p:grpSpPr>
        <p:sp>
          <p:nvSpPr>
            <p:cNvPr name="Freeform 6" id="6"/>
            <p:cNvSpPr/>
            <p:nvPr/>
          </p:nvSpPr>
          <p:spPr>
            <a:xfrm flipH="false" flipV="false" rot="0">
              <a:off x="0"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1359389"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grpSp>
        <p:nvGrpSpPr>
          <p:cNvPr name="Group 8" id="8"/>
          <p:cNvGrpSpPr/>
          <p:nvPr/>
        </p:nvGrpSpPr>
        <p:grpSpPr>
          <a:xfrm rot="0">
            <a:off x="8395112" y="359467"/>
            <a:ext cx="8864188" cy="8745251"/>
            <a:chOff x="0" y="0"/>
            <a:chExt cx="3845713" cy="3794113"/>
          </a:xfrm>
        </p:grpSpPr>
        <p:sp>
          <p:nvSpPr>
            <p:cNvPr name="Freeform 9" id="9"/>
            <p:cNvSpPr/>
            <p:nvPr/>
          </p:nvSpPr>
          <p:spPr>
            <a:xfrm flipH="false" flipV="false" rot="0">
              <a:off x="0" y="0"/>
              <a:ext cx="3845713" cy="3794113"/>
            </a:xfrm>
            <a:custGeom>
              <a:avLst/>
              <a:gdLst/>
              <a:ahLst/>
              <a:cxnLst/>
              <a:rect r="r" b="b" t="t" l="l"/>
              <a:pathLst>
                <a:path h="3794113" w="3845713">
                  <a:moveTo>
                    <a:pt x="27075" y="0"/>
                  </a:moveTo>
                  <a:lnTo>
                    <a:pt x="3818638" y="0"/>
                  </a:lnTo>
                  <a:cubicBezTo>
                    <a:pt x="3833591" y="0"/>
                    <a:pt x="3845713" y="12122"/>
                    <a:pt x="3845713" y="27075"/>
                  </a:cubicBezTo>
                  <a:lnTo>
                    <a:pt x="3845713" y="3767038"/>
                  </a:lnTo>
                  <a:cubicBezTo>
                    <a:pt x="3845713" y="3781991"/>
                    <a:pt x="3833591" y="3794113"/>
                    <a:pt x="3818638" y="3794113"/>
                  </a:cubicBezTo>
                  <a:lnTo>
                    <a:pt x="27075" y="3794113"/>
                  </a:lnTo>
                  <a:cubicBezTo>
                    <a:pt x="12122" y="3794113"/>
                    <a:pt x="0" y="3781991"/>
                    <a:pt x="0" y="3767038"/>
                  </a:cubicBezTo>
                  <a:lnTo>
                    <a:pt x="0" y="27075"/>
                  </a:lnTo>
                  <a:cubicBezTo>
                    <a:pt x="0" y="12122"/>
                    <a:pt x="12122" y="0"/>
                    <a:pt x="27075" y="0"/>
                  </a:cubicBezTo>
                  <a:close/>
                </a:path>
              </a:pathLst>
            </a:custGeom>
            <a:solidFill>
              <a:srgbClr val="071330"/>
            </a:solidFill>
          </p:spPr>
        </p:sp>
        <p:sp>
          <p:nvSpPr>
            <p:cNvPr name="TextBox 10" id="10"/>
            <p:cNvSpPr txBox="true"/>
            <p:nvPr/>
          </p:nvSpPr>
          <p:spPr>
            <a:xfrm>
              <a:off x="0" y="-38100"/>
              <a:ext cx="3845713" cy="3832213"/>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8913436" y="670096"/>
            <a:ext cx="210976" cy="210976"/>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name="Group 13" id="13"/>
          <p:cNvGrpSpPr/>
          <p:nvPr/>
        </p:nvGrpSpPr>
        <p:grpSpPr>
          <a:xfrm rot="0">
            <a:off x="9189146" y="670096"/>
            <a:ext cx="210976" cy="210976"/>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name="Group 15" id="15"/>
          <p:cNvGrpSpPr/>
          <p:nvPr/>
        </p:nvGrpSpPr>
        <p:grpSpPr>
          <a:xfrm rot="0">
            <a:off x="9463727" y="670096"/>
            <a:ext cx="210976" cy="210976"/>
            <a:chOff x="0" y="0"/>
            <a:chExt cx="6350000" cy="6350000"/>
          </a:xfrm>
        </p:grpSpPr>
        <p:sp>
          <p:nvSpPr>
            <p:cNvPr name="Freeform 16" id="1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name="Freeform 17" id="17"/>
          <p:cNvSpPr/>
          <p:nvPr/>
        </p:nvSpPr>
        <p:spPr>
          <a:xfrm flipH="false" flipV="false" rot="0">
            <a:off x="775070" y="4472543"/>
            <a:ext cx="6784266" cy="3621102"/>
          </a:xfrm>
          <a:custGeom>
            <a:avLst/>
            <a:gdLst/>
            <a:ahLst/>
            <a:cxnLst/>
            <a:rect r="r" b="b" t="t" l="l"/>
            <a:pathLst>
              <a:path h="3621102" w="6784266">
                <a:moveTo>
                  <a:pt x="0" y="0"/>
                </a:moveTo>
                <a:lnTo>
                  <a:pt x="6784267" y="0"/>
                </a:lnTo>
                <a:lnTo>
                  <a:pt x="6784267" y="3621102"/>
                </a:lnTo>
                <a:lnTo>
                  <a:pt x="0" y="3621102"/>
                </a:lnTo>
                <a:lnTo>
                  <a:pt x="0" y="0"/>
                </a:lnTo>
                <a:close/>
              </a:path>
            </a:pathLst>
          </a:custGeom>
          <a:blipFill>
            <a:blip r:embed="rId4"/>
            <a:stretch>
              <a:fillRect l="0" t="0" r="0" b="0"/>
            </a:stretch>
          </a:blipFill>
        </p:spPr>
      </p:sp>
      <p:sp>
        <p:nvSpPr>
          <p:cNvPr name="TextBox 18" id="18"/>
          <p:cNvSpPr txBox="true"/>
          <p:nvPr/>
        </p:nvSpPr>
        <p:spPr>
          <a:xfrm rot="0">
            <a:off x="390455" y="454717"/>
            <a:ext cx="8456307" cy="1607820"/>
          </a:xfrm>
          <a:prstGeom prst="rect">
            <a:avLst/>
          </a:prstGeom>
        </p:spPr>
        <p:txBody>
          <a:bodyPr anchor="t" rtlCol="false" tIns="0" lIns="0" bIns="0" rIns="0">
            <a:spAutoFit/>
          </a:bodyPr>
          <a:lstStyle/>
          <a:p>
            <a:pPr algn="l">
              <a:lnSpc>
                <a:spcPts val="6240"/>
              </a:lnSpc>
            </a:pPr>
            <a:r>
              <a:rPr lang="en-US" sz="6000" b="true">
                <a:solidFill>
                  <a:srgbClr val="FFFFFF"/>
                </a:solidFill>
                <a:latin typeface="Canva Sans Bold"/>
                <a:ea typeface="Canva Sans Bold"/>
                <a:cs typeface="Canva Sans Bold"/>
                <a:sym typeface="Canva Sans Bold"/>
              </a:rPr>
              <a:t>Phần 1:</a:t>
            </a:r>
          </a:p>
          <a:p>
            <a:pPr algn="l">
              <a:lnSpc>
                <a:spcPts val="6240"/>
              </a:lnSpc>
            </a:pPr>
            <a:r>
              <a:rPr lang="en-US" sz="6000" b="true">
                <a:solidFill>
                  <a:srgbClr val="FFFFFF"/>
                </a:solidFill>
                <a:latin typeface="Canva Sans Bold"/>
                <a:ea typeface="Canva Sans Bold"/>
                <a:cs typeface="Canva Sans Bold"/>
                <a:sym typeface="Canva Sans Bold"/>
              </a:rPr>
              <a:t>Giới Thiệu đề tài </a:t>
            </a:r>
          </a:p>
        </p:txBody>
      </p:sp>
      <p:sp>
        <p:nvSpPr>
          <p:cNvPr name="TextBox 19" id="19"/>
          <p:cNvSpPr txBox="true"/>
          <p:nvPr/>
        </p:nvSpPr>
        <p:spPr>
          <a:xfrm rot="0">
            <a:off x="8913436" y="1613620"/>
            <a:ext cx="7668203" cy="6914515"/>
          </a:xfrm>
          <a:prstGeom prst="rect">
            <a:avLst/>
          </a:prstGeom>
        </p:spPr>
        <p:txBody>
          <a:bodyPr anchor="t" rtlCol="false" tIns="0" lIns="0" bIns="0" rIns="0">
            <a:spAutoFit/>
          </a:bodyPr>
          <a:lstStyle/>
          <a:p>
            <a:pPr algn="l">
              <a:lnSpc>
                <a:spcPts val="2480"/>
              </a:lnSpc>
            </a:pPr>
            <a:r>
              <a:rPr lang="en-US" sz="2000">
                <a:solidFill>
                  <a:srgbClr val="FFFFFF"/>
                </a:solidFill>
                <a:latin typeface="Canva Sans"/>
                <a:ea typeface="Canva Sans"/>
                <a:cs typeface="Canva Sans"/>
                <a:sym typeface="Canva Sans"/>
              </a:rPr>
              <a:t>   Website bán điện thoại là một ứng dụng thương mại điện tử được xây dựng nhằm hỗ trợ việc kinh doanh và mua bán điện thoại di động trong môi trường trực tuyến. Hệ thống được phát triển bằng ngôn ngữ lập trình PHP và sử dụng SQL làm hệ quản trị cơ sở dữ liệu, đảm bảo khả năng lưu trữ, truy xuất và xử lý dữ liệu hiệu quả.</a:t>
            </a:r>
          </a:p>
          <a:p>
            <a:pPr algn="l">
              <a:lnSpc>
                <a:spcPts val="2480"/>
              </a:lnSpc>
            </a:pPr>
          </a:p>
          <a:p>
            <a:pPr algn="l">
              <a:lnSpc>
                <a:spcPts val="2480"/>
              </a:lnSpc>
            </a:pPr>
            <a:r>
              <a:rPr lang="en-US" sz="2000">
                <a:solidFill>
                  <a:srgbClr val="FFFFFF"/>
                </a:solidFill>
                <a:latin typeface="Canva Sans"/>
                <a:ea typeface="Canva Sans"/>
                <a:cs typeface="Canva Sans"/>
                <a:sym typeface="Canva Sans"/>
              </a:rPr>
              <a:t>   Hệ thống cho phép người mua dễ dàng tìm kiếm, tham khảo và mua sắm điện thoại thông qua các chức năng: duyệt danh mục sản phẩm, xem chi tiết thông tin và thông số kỹ thuật, quản lý giỏ hàng, tiến hành thanh toán và đánh giá sản phẩm. Bên cạnh đó, quản trị viên có thể quản lý toàn bộ hoạt động của cửa hàng như quản lý sản phẩm, kho hàng, đơn hàng, người dùng và theo dõi các đánh giá.</a:t>
            </a:r>
          </a:p>
          <a:p>
            <a:pPr algn="l">
              <a:lnSpc>
                <a:spcPts val="2480"/>
              </a:lnSpc>
            </a:pPr>
          </a:p>
          <a:p>
            <a:pPr algn="l">
              <a:lnSpc>
                <a:spcPts val="2480"/>
              </a:lnSpc>
            </a:pPr>
            <a:r>
              <a:rPr lang="en-US" sz="2000">
                <a:solidFill>
                  <a:srgbClr val="FFFFFF"/>
                </a:solidFill>
                <a:latin typeface="Canva Sans"/>
                <a:ea typeface="Canva Sans"/>
                <a:cs typeface="Canva Sans"/>
                <a:sym typeface="Canva Sans"/>
              </a:rPr>
              <a:t>    Website bán điện thoại không chỉ đáp ứng nhu cầu kinh doanh trực tuyến thực tế của một cửa hàng điện thoại, mà còn đóng vai trò như một ví dụ thực tiễn phục vụ cho việc học tập, nghiên cứu và áp dụng các nguyên lý phân tích – thiết kế nghiệp vụ, cũng như triển khai ứng dụng web trong môi trường hiện đại.</a:t>
            </a:r>
          </a:p>
          <a:p>
            <a:pPr algn="l">
              <a:lnSpc>
                <a:spcPts val="248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6AC66B"/>
        </a:solidFill>
      </p:bgPr>
    </p:bg>
    <p:spTree>
      <p:nvGrpSpPr>
        <p:cNvPr id="1" name=""/>
        <p:cNvGrpSpPr/>
        <p:nvPr/>
      </p:nvGrpSpPr>
      <p:grpSpPr>
        <a:xfrm>
          <a:off x="0" y="0"/>
          <a:ext cx="0" cy="0"/>
          <a:chOff x="0" y="0"/>
          <a:chExt cx="0" cy="0"/>
        </a:xfrm>
      </p:grpSpPr>
      <p:grpSp>
        <p:nvGrpSpPr>
          <p:cNvPr name="Group 2" id="2"/>
          <p:cNvGrpSpPr/>
          <p:nvPr/>
        </p:nvGrpSpPr>
        <p:grpSpPr>
          <a:xfrm rot="0">
            <a:off x="-460312" y="-201041"/>
            <a:ext cx="19208624" cy="10689082"/>
            <a:chOff x="0" y="0"/>
            <a:chExt cx="25611499" cy="14252110"/>
          </a:xfrm>
        </p:grpSpPr>
        <p:sp>
          <p:nvSpPr>
            <p:cNvPr name="Freeform 3" id="3"/>
            <p:cNvSpPr/>
            <p:nvPr/>
          </p:nvSpPr>
          <p:spPr>
            <a:xfrm flipH="false" flipV="false" rot="0">
              <a:off x="0"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359389"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028700" y="5143500"/>
            <a:ext cx="5040954" cy="2134073"/>
            <a:chOff x="0" y="0"/>
            <a:chExt cx="2642343" cy="1118628"/>
          </a:xfrm>
        </p:grpSpPr>
        <p:sp>
          <p:nvSpPr>
            <p:cNvPr name="Freeform 6" id="6"/>
            <p:cNvSpPr/>
            <p:nvPr/>
          </p:nvSpPr>
          <p:spPr>
            <a:xfrm flipH="false" flipV="false" rot="0">
              <a:off x="0" y="0"/>
              <a:ext cx="2642343" cy="1118628"/>
            </a:xfrm>
            <a:custGeom>
              <a:avLst/>
              <a:gdLst/>
              <a:ahLst/>
              <a:cxnLst/>
              <a:rect r="r" b="b" t="t" l="l"/>
              <a:pathLst>
                <a:path h="1118628" w="2642343">
                  <a:moveTo>
                    <a:pt x="50682" y="0"/>
                  </a:moveTo>
                  <a:lnTo>
                    <a:pt x="2591661" y="0"/>
                  </a:lnTo>
                  <a:cubicBezTo>
                    <a:pt x="2605103" y="0"/>
                    <a:pt x="2617994" y="5340"/>
                    <a:pt x="2627499" y="14844"/>
                  </a:cubicBezTo>
                  <a:cubicBezTo>
                    <a:pt x="2637003" y="24349"/>
                    <a:pt x="2642343" y="37240"/>
                    <a:pt x="2642343" y="50682"/>
                  </a:cubicBezTo>
                  <a:lnTo>
                    <a:pt x="2642343" y="1067947"/>
                  </a:lnTo>
                  <a:cubicBezTo>
                    <a:pt x="2642343" y="1095937"/>
                    <a:pt x="2619652" y="1118628"/>
                    <a:pt x="2591661" y="1118628"/>
                  </a:cubicBezTo>
                  <a:lnTo>
                    <a:pt x="50682" y="1118628"/>
                  </a:lnTo>
                  <a:cubicBezTo>
                    <a:pt x="22691" y="1118628"/>
                    <a:pt x="0" y="1095937"/>
                    <a:pt x="0" y="1067947"/>
                  </a:cubicBezTo>
                  <a:lnTo>
                    <a:pt x="0" y="50682"/>
                  </a:lnTo>
                  <a:cubicBezTo>
                    <a:pt x="0" y="22691"/>
                    <a:pt x="22691" y="0"/>
                    <a:pt x="50682" y="0"/>
                  </a:cubicBezTo>
                  <a:close/>
                </a:path>
              </a:pathLst>
            </a:custGeom>
            <a:solidFill>
              <a:srgbClr val="FFFFFF"/>
            </a:solidFill>
          </p:spPr>
        </p:sp>
        <p:sp>
          <p:nvSpPr>
            <p:cNvPr name="TextBox 7" id="7"/>
            <p:cNvSpPr txBox="true"/>
            <p:nvPr/>
          </p:nvSpPr>
          <p:spPr>
            <a:xfrm>
              <a:off x="0" y="-38100"/>
              <a:ext cx="2642343" cy="11567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386261" y="5400601"/>
            <a:ext cx="168128" cy="174620"/>
            <a:chOff x="0" y="0"/>
            <a:chExt cx="6113909" cy="6350000"/>
          </a:xfrm>
        </p:grpSpPr>
        <p:sp>
          <p:nvSpPr>
            <p:cNvPr name="Freeform 9" id="9"/>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DE0F3F"/>
            </a:solidFill>
          </p:spPr>
        </p:sp>
      </p:grpSp>
      <p:grpSp>
        <p:nvGrpSpPr>
          <p:cNvPr name="Group 10" id="10"/>
          <p:cNvGrpSpPr/>
          <p:nvPr/>
        </p:nvGrpSpPr>
        <p:grpSpPr>
          <a:xfrm rot="0">
            <a:off x="1605975" y="5400601"/>
            <a:ext cx="168128" cy="174620"/>
            <a:chOff x="0" y="0"/>
            <a:chExt cx="6113909" cy="6350000"/>
          </a:xfrm>
        </p:grpSpPr>
        <p:sp>
          <p:nvSpPr>
            <p:cNvPr name="Freeform 11" id="11"/>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FFCF60"/>
            </a:solidFill>
          </p:spPr>
        </p:sp>
      </p:grpSp>
      <p:grpSp>
        <p:nvGrpSpPr>
          <p:cNvPr name="Group 12" id="12"/>
          <p:cNvGrpSpPr/>
          <p:nvPr/>
        </p:nvGrpSpPr>
        <p:grpSpPr>
          <a:xfrm rot="0">
            <a:off x="1824791" y="5400601"/>
            <a:ext cx="168128" cy="174620"/>
            <a:chOff x="0" y="0"/>
            <a:chExt cx="6113909" cy="6350000"/>
          </a:xfrm>
        </p:grpSpPr>
        <p:sp>
          <p:nvSpPr>
            <p:cNvPr name="Freeform 13" id="13"/>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6AC66B"/>
            </a:solidFill>
          </p:spPr>
        </p:sp>
      </p:grpSp>
      <p:grpSp>
        <p:nvGrpSpPr>
          <p:cNvPr name="Group 14" id="14"/>
          <p:cNvGrpSpPr/>
          <p:nvPr/>
        </p:nvGrpSpPr>
        <p:grpSpPr>
          <a:xfrm rot="0">
            <a:off x="6731589" y="302550"/>
            <a:ext cx="10297503" cy="4332819"/>
            <a:chOff x="0" y="0"/>
            <a:chExt cx="6376243" cy="2682894"/>
          </a:xfrm>
        </p:grpSpPr>
        <p:sp>
          <p:nvSpPr>
            <p:cNvPr name="Freeform 15" id="15"/>
            <p:cNvSpPr/>
            <p:nvPr/>
          </p:nvSpPr>
          <p:spPr>
            <a:xfrm flipH="false" flipV="false" rot="0">
              <a:off x="0" y="0"/>
              <a:ext cx="6376243" cy="2682894"/>
            </a:xfrm>
            <a:custGeom>
              <a:avLst/>
              <a:gdLst/>
              <a:ahLst/>
              <a:cxnLst/>
              <a:rect r="r" b="b" t="t" l="l"/>
              <a:pathLst>
                <a:path h="2682894" w="6376243">
                  <a:moveTo>
                    <a:pt x="23307" y="0"/>
                  </a:moveTo>
                  <a:lnTo>
                    <a:pt x="6352936" y="0"/>
                  </a:lnTo>
                  <a:cubicBezTo>
                    <a:pt x="6359118" y="0"/>
                    <a:pt x="6365046" y="2456"/>
                    <a:pt x="6369417" y="6826"/>
                  </a:cubicBezTo>
                  <a:cubicBezTo>
                    <a:pt x="6373787" y="11197"/>
                    <a:pt x="6376243" y="17125"/>
                    <a:pt x="6376243" y="23307"/>
                  </a:cubicBezTo>
                  <a:lnTo>
                    <a:pt x="6376243" y="2659587"/>
                  </a:lnTo>
                  <a:cubicBezTo>
                    <a:pt x="6376243" y="2665769"/>
                    <a:pt x="6373787" y="2671697"/>
                    <a:pt x="6369417" y="2676068"/>
                  </a:cubicBezTo>
                  <a:cubicBezTo>
                    <a:pt x="6365046" y="2680439"/>
                    <a:pt x="6359118" y="2682894"/>
                    <a:pt x="6352936" y="2682894"/>
                  </a:cubicBezTo>
                  <a:lnTo>
                    <a:pt x="23307" y="2682894"/>
                  </a:lnTo>
                  <a:cubicBezTo>
                    <a:pt x="17125" y="2682894"/>
                    <a:pt x="11197" y="2680439"/>
                    <a:pt x="6826" y="2676068"/>
                  </a:cubicBezTo>
                  <a:cubicBezTo>
                    <a:pt x="2456" y="2671697"/>
                    <a:pt x="0" y="2665769"/>
                    <a:pt x="0" y="2659587"/>
                  </a:cubicBezTo>
                  <a:lnTo>
                    <a:pt x="0" y="23307"/>
                  </a:lnTo>
                  <a:cubicBezTo>
                    <a:pt x="0" y="17125"/>
                    <a:pt x="2456" y="11197"/>
                    <a:pt x="6826" y="6826"/>
                  </a:cubicBezTo>
                  <a:cubicBezTo>
                    <a:pt x="11197" y="2456"/>
                    <a:pt x="17125" y="0"/>
                    <a:pt x="23307" y="0"/>
                  </a:cubicBezTo>
                  <a:close/>
                </a:path>
              </a:pathLst>
            </a:custGeom>
            <a:solidFill>
              <a:srgbClr val="071330"/>
            </a:solidFill>
          </p:spPr>
        </p:sp>
        <p:sp>
          <p:nvSpPr>
            <p:cNvPr name="TextBox 16" id="16"/>
            <p:cNvSpPr txBox="true"/>
            <p:nvPr/>
          </p:nvSpPr>
          <p:spPr>
            <a:xfrm>
              <a:off x="0" y="-38100"/>
              <a:ext cx="6376243" cy="2720994"/>
            </a:xfrm>
            <a:prstGeom prst="rect">
              <a:avLst/>
            </a:prstGeom>
          </p:spPr>
          <p:txBody>
            <a:bodyPr anchor="ctr" rtlCol="false" tIns="50800" lIns="50800" bIns="50800" rIns="50800"/>
            <a:lstStyle/>
            <a:p>
              <a:pPr algn="ctr">
                <a:lnSpc>
                  <a:spcPts val="2659"/>
                </a:lnSpc>
                <a:spcBef>
                  <a:spcPct val="0"/>
                </a:spcBef>
              </a:pPr>
            </a:p>
          </p:txBody>
        </p:sp>
      </p:grpSp>
      <p:sp>
        <p:nvSpPr>
          <p:cNvPr name="Freeform 17" id="17"/>
          <p:cNvSpPr/>
          <p:nvPr/>
        </p:nvSpPr>
        <p:spPr>
          <a:xfrm flipH="false" flipV="false" rot="0">
            <a:off x="6731589" y="4926376"/>
            <a:ext cx="10297503" cy="4939013"/>
          </a:xfrm>
          <a:custGeom>
            <a:avLst/>
            <a:gdLst/>
            <a:ahLst/>
            <a:cxnLst/>
            <a:rect r="r" b="b" t="t" l="l"/>
            <a:pathLst>
              <a:path h="4939013" w="10297503">
                <a:moveTo>
                  <a:pt x="0" y="0"/>
                </a:moveTo>
                <a:lnTo>
                  <a:pt x="10297503" y="0"/>
                </a:lnTo>
                <a:lnTo>
                  <a:pt x="10297503" y="4939013"/>
                </a:lnTo>
                <a:lnTo>
                  <a:pt x="0" y="4939013"/>
                </a:lnTo>
                <a:lnTo>
                  <a:pt x="0" y="0"/>
                </a:lnTo>
                <a:close/>
              </a:path>
            </a:pathLst>
          </a:custGeom>
          <a:blipFill>
            <a:blip r:embed="rId4"/>
            <a:stretch>
              <a:fillRect l="0" t="0" r="0" b="0"/>
            </a:stretch>
          </a:blipFill>
        </p:spPr>
      </p:sp>
      <p:sp>
        <p:nvSpPr>
          <p:cNvPr name="TextBox 18" id="18"/>
          <p:cNvSpPr txBox="true"/>
          <p:nvPr/>
        </p:nvSpPr>
        <p:spPr>
          <a:xfrm rot="0">
            <a:off x="478409" y="576123"/>
            <a:ext cx="6842606" cy="3105076"/>
          </a:xfrm>
          <a:prstGeom prst="rect">
            <a:avLst/>
          </a:prstGeom>
        </p:spPr>
        <p:txBody>
          <a:bodyPr anchor="t" rtlCol="false" tIns="0" lIns="0" bIns="0" rIns="0">
            <a:spAutoFit/>
          </a:bodyPr>
          <a:lstStyle/>
          <a:p>
            <a:pPr algn="l">
              <a:lnSpc>
                <a:spcPts val="8125"/>
              </a:lnSpc>
            </a:pPr>
            <a:r>
              <a:rPr lang="en-US" sz="7813" b="true">
                <a:solidFill>
                  <a:srgbClr val="FFFFFF"/>
                </a:solidFill>
                <a:latin typeface="Canva Sans Bold"/>
                <a:ea typeface="Canva Sans Bold"/>
                <a:cs typeface="Canva Sans Bold"/>
                <a:sym typeface="Canva Sans Bold"/>
              </a:rPr>
              <a:t>PHẦN 2:</a:t>
            </a:r>
          </a:p>
          <a:p>
            <a:pPr algn="l">
              <a:lnSpc>
                <a:spcPts val="8125"/>
              </a:lnSpc>
            </a:pPr>
            <a:r>
              <a:rPr lang="en-US" sz="7813" b="true">
                <a:solidFill>
                  <a:srgbClr val="FFFFFF"/>
                </a:solidFill>
                <a:latin typeface="Canva Sans Bold"/>
                <a:ea typeface="Canva Sans Bold"/>
                <a:cs typeface="Canva Sans Bold"/>
                <a:sym typeface="Canva Sans Bold"/>
              </a:rPr>
              <a:t>Bối cảnh Nghiệp vụ</a:t>
            </a:r>
          </a:p>
        </p:txBody>
      </p:sp>
      <p:sp>
        <p:nvSpPr>
          <p:cNvPr name="TextBox 19" id="19"/>
          <p:cNvSpPr txBox="true"/>
          <p:nvPr/>
        </p:nvSpPr>
        <p:spPr>
          <a:xfrm rot="0">
            <a:off x="1146875" y="5920271"/>
            <a:ext cx="4922779" cy="515366"/>
          </a:xfrm>
          <a:prstGeom prst="rect">
            <a:avLst/>
          </a:prstGeom>
        </p:spPr>
        <p:txBody>
          <a:bodyPr anchor="t" rtlCol="false" tIns="0" lIns="0" bIns="0" rIns="0">
            <a:spAutoFit/>
          </a:bodyPr>
          <a:lstStyle/>
          <a:p>
            <a:pPr algn="l">
              <a:lnSpc>
                <a:spcPts val="3952"/>
              </a:lnSpc>
            </a:pPr>
            <a:r>
              <a:rPr lang="en-US" sz="3800" b="true">
                <a:solidFill>
                  <a:srgbClr val="071330"/>
                </a:solidFill>
                <a:latin typeface="Canva Sans Bold"/>
                <a:ea typeface="Canva Sans Bold"/>
                <a:cs typeface="Canva Sans Bold"/>
                <a:sym typeface="Canva Sans Bold"/>
              </a:rPr>
              <a:t>Danh mục sản phẩm</a:t>
            </a:r>
          </a:p>
        </p:txBody>
      </p:sp>
      <p:sp>
        <p:nvSpPr>
          <p:cNvPr name="TextBox 20" id="20"/>
          <p:cNvSpPr txBox="true"/>
          <p:nvPr/>
        </p:nvSpPr>
        <p:spPr>
          <a:xfrm rot="0">
            <a:off x="7333724" y="1178429"/>
            <a:ext cx="8908131" cy="2952623"/>
          </a:xfrm>
          <a:prstGeom prst="rect">
            <a:avLst/>
          </a:prstGeom>
        </p:spPr>
        <p:txBody>
          <a:bodyPr anchor="t" rtlCol="false" tIns="0" lIns="0" bIns="0" rIns="0">
            <a:spAutoFit/>
          </a:bodyPr>
          <a:lstStyle/>
          <a:p>
            <a:pPr algn="l">
              <a:lnSpc>
                <a:spcPts val="2355"/>
              </a:lnSpc>
            </a:pPr>
            <a:r>
              <a:rPr lang="en-US" sz="1899">
                <a:solidFill>
                  <a:srgbClr val="FFFFFF"/>
                </a:solidFill>
                <a:latin typeface="Canva Sans"/>
                <a:ea typeface="Canva Sans"/>
                <a:cs typeface="Canva Sans"/>
                <a:sym typeface="Canva Sans"/>
              </a:rPr>
              <a:t> Người mua có thể duyệt danh sách điện thoại với các chức năng lọc và sắp xếp theo hãng sản xuất (Apple, Samsung, Oppo…), theo mức giá, dung lượng bộ nhớ hoặc tình trạng “sản phẩm nổi bật”. Người mua có thể xem chi tiết sản phẩm bao gồm: tên, hình ảnh, mô tả, thông số kỹ thuật (màn hình, chip xử lý, RAM, bộ nhớ trong, camera, pin…), giá bán, số lượng tồn kho, thông tin kho hàng (địa chỉ, vị trí), chính sách bảo hành và các đánh giá. Ngoài ra, người mua có thể so sánh nhiều sản phẩm với nhau. Quản trị viên có thể quản lý sản phẩm (thêm mới, chỉnh sửa, xoá), cập nhật thông số kỹ thuật, thay đổi trạng thái sản phẩm (đang bán, ngừng bán) và gán sản phẩm vào kho hiện có.</a:t>
            </a:r>
          </a:p>
          <a:p>
            <a:pPr algn="l">
              <a:lnSpc>
                <a:spcPts val="2355"/>
              </a:lnSpc>
            </a:pPr>
          </a:p>
        </p:txBody>
      </p:sp>
      <p:grpSp>
        <p:nvGrpSpPr>
          <p:cNvPr name="Group 21" id="21"/>
          <p:cNvGrpSpPr/>
          <p:nvPr/>
        </p:nvGrpSpPr>
        <p:grpSpPr>
          <a:xfrm rot="0">
            <a:off x="7110039" y="607885"/>
            <a:ext cx="210976" cy="210976"/>
            <a:chOff x="0" y="0"/>
            <a:chExt cx="6350000" cy="6350000"/>
          </a:xfrm>
        </p:grpSpPr>
        <p:sp>
          <p:nvSpPr>
            <p:cNvPr name="Freeform 22" id="2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name="Group 23" id="23"/>
          <p:cNvGrpSpPr/>
          <p:nvPr/>
        </p:nvGrpSpPr>
        <p:grpSpPr>
          <a:xfrm rot="0">
            <a:off x="7385749" y="607885"/>
            <a:ext cx="210976" cy="210976"/>
            <a:chOff x="0" y="0"/>
            <a:chExt cx="6350000" cy="6350000"/>
          </a:xfrm>
        </p:grpSpPr>
        <p:sp>
          <p:nvSpPr>
            <p:cNvPr name="Freeform 24" id="2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name="Group 25" id="25"/>
          <p:cNvGrpSpPr/>
          <p:nvPr/>
        </p:nvGrpSpPr>
        <p:grpSpPr>
          <a:xfrm rot="0">
            <a:off x="7660330" y="607885"/>
            <a:ext cx="210976" cy="210976"/>
            <a:chOff x="0" y="0"/>
            <a:chExt cx="6350000" cy="6350000"/>
          </a:xfrm>
        </p:grpSpPr>
        <p:sp>
          <p:nvSpPr>
            <p:cNvPr name="Freeform 26" id="2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6AC66B"/>
        </a:solidFill>
      </p:bgPr>
    </p:bg>
    <p:spTree>
      <p:nvGrpSpPr>
        <p:cNvPr id="1" name=""/>
        <p:cNvGrpSpPr/>
        <p:nvPr/>
      </p:nvGrpSpPr>
      <p:grpSpPr>
        <a:xfrm>
          <a:off x="0" y="0"/>
          <a:ext cx="0" cy="0"/>
          <a:chOff x="0" y="0"/>
          <a:chExt cx="0" cy="0"/>
        </a:xfrm>
      </p:grpSpPr>
      <p:grpSp>
        <p:nvGrpSpPr>
          <p:cNvPr name="Group 2" id="2"/>
          <p:cNvGrpSpPr/>
          <p:nvPr/>
        </p:nvGrpSpPr>
        <p:grpSpPr>
          <a:xfrm rot="0">
            <a:off x="-460312" y="-201041"/>
            <a:ext cx="19208624" cy="10689082"/>
            <a:chOff x="0" y="0"/>
            <a:chExt cx="25611499" cy="14252110"/>
          </a:xfrm>
        </p:grpSpPr>
        <p:sp>
          <p:nvSpPr>
            <p:cNvPr name="Freeform 3" id="3"/>
            <p:cNvSpPr/>
            <p:nvPr/>
          </p:nvSpPr>
          <p:spPr>
            <a:xfrm flipH="false" flipV="false" rot="0">
              <a:off x="0"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359389"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028700" y="5143500"/>
            <a:ext cx="5040954" cy="2134073"/>
            <a:chOff x="0" y="0"/>
            <a:chExt cx="2642343" cy="1118628"/>
          </a:xfrm>
        </p:grpSpPr>
        <p:sp>
          <p:nvSpPr>
            <p:cNvPr name="Freeform 6" id="6"/>
            <p:cNvSpPr/>
            <p:nvPr/>
          </p:nvSpPr>
          <p:spPr>
            <a:xfrm flipH="false" flipV="false" rot="0">
              <a:off x="0" y="0"/>
              <a:ext cx="2642343" cy="1118628"/>
            </a:xfrm>
            <a:custGeom>
              <a:avLst/>
              <a:gdLst/>
              <a:ahLst/>
              <a:cxnLst/>
              <a:rect r="r" b="b" t="t" l="l"/>
              <a:pathLst>
                <a:path h="1118628" w="2642343">
                  <a:moveTo>
                    <a:pt x="50682" y="0"/>
                  </a:moveTo>
                  <a:lnTo>
                    <a:pt x="2591661" y="0"/>
                  </a:lnTo>
                  <a:cubicBezTo>
                    <a:pt x="2605103" y="0"/>
                    <a:pt x="2617994" y="5340"/>
                    <a:pt x="2627499" y="14844"/>
                  </a:cubicBezTo>
                  <a:cubicBezTo>
                    <a:pt x="2637003" y="24349"/>
                    <a:pt x="2642343" y="37240"/>
                    <a:pt x="2642343" y="50682"/>
                  </a:cubicBezTo>
                  <a:lnTo>
                    <a:pt x="2642343" y="1067947"/>
                  </a:lnTo>
                  <a:cubicBezTo>
                    <a:pt x="2642343" y="1095937"/>
                    <a:pt x="2619652" y="1118628"/>
                    <a:pt x="2591661" y="1118628"/>
                  </a:cubicBezTo>
                  <a:lnTo>
                    <a:pt x="50682" y="1118628"/>
                  </a:lnTo>
                  <a:cubicBezTo>
                    <a:pt x="22691" y="1118628"/>
                    <a:pt x="0" y="1095937"/>
                    <a:pt x="0" y="1067947"/>
                  </a:cubicBezTo>
                  <a:lnTo>
                    <a:pt x="0" y="50682"/>
                  </a:lnTo>
                  <a:cubicBezTo>
                    <a:pt x="0" y="22691"/>
                    <a:pt x="22691" y="0"/>
                    <a:pt x="50682" y="0"/>
                  </a:cubicBezTo>
                  <a:close/>
                </a:path>
              </a:pathLst>
            </a:custGeom>
            <a:solidFill>
              <a:srgbClr val="FFFFFF"/>
            </a:solidFill>
          </p:spPr>
        </p:sp>
        <p:sp>
          <p:nvSpPr>
            <p:cNvPr name="TextBox 7" id="7"/>
            <p:cNvSpPr txBox="true"/>
            <p:nvPr/>
          </p:nvSpPr>
          <p:spPr>
            <a:xfrm>
              <a:off x="0" y="-38100"/>
              <a:ext cx="2642343" cy="11567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386261" y="5400601"/>
            <a:ext cx="168128" cy="174620"/>
            <a:chOff x="0" y="0"/>
            <a:chExt cx="6113909" cy="6350000"/>
          </a:xfrm>
        </p:grpSpPr>
        <p:sp>
          <p:nvSpPr>
            <p:cNvPr name="Freeform 9" id="9"/>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DE0F3F"/>
            </a:solidFill>
          </p:spPr>
        </p:sp>
      </p:grpSp>
      <p:grpSp>
        <p:nvGrpSpPr>
          <p:cNvPr name="Group 10" id="10"/>
          <p:cNvGrpSpPr/>
          <p:nvPr/>
        </p:nvGrpSpPr>
        <p:grpSpPr>
          <a:xfrm rot="0">
            <a:off x="1605975" y="5400601"/>
            <a:ext cx="168128" cy="174620"/>
            <a:chOff x="0" y="0"/>
            <a:chExt cx="6113909" cy="6350000"/>
          </a:xfrm>
        </p:grpSpPr>
        <p:sp>
          <p:nvSpPr>
            <p:cNvPr name="Freeform 11" id="11"/>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FFCF60"/>
            </a:solidFill>
          </p:spPr>
        </p:sp>
      </p:grpSp>
      <p:grpSp>
        <p:nvGrpSpPr>
          <p:cNvPr name="Group 12" id="12"/>
          <p:cNvGrpSpPr/>
          <p:nvPr/>
        </p:nvGrpSpPr>
        <p:grpSpPr>
          <a:xfrm rot="0">
            <a:off x="1824791" y="5400601"/>
            <a:ext cx="168128" cy="174620"/>
            <a:chOff x="0" y="0"/>
            <a:chExt cx="6113909" cy="6350000"/>
          </a:xfrm>
        </p:grpSpPr>
        <p:sp>
          <p:nvSpPr>
            <p:cNvPr name="Freeform 13" id="13"/>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6AC66B"/>
            </a:solidFill>
          </p:spPr>
        </p:sp>
      </p:grpSp>
      <p:grpSp>
        <p:nvGrpSpPr>
          <p:cNvPr name="Group 14" id="14"/>
          <p:cNvGrpSpPr/>
          <p:nvPr/>
        </p:nvGrpSpPr>
        <p:grpSpPr>
          <a:xfrm rot="0">
            <a:off x="6731589" y="302550"/>
            <a:ext cx="10297503" cy="4332819"/>
            <a:chOff x="0" y="0"/>
            <a:chExt cx="6376243" cy="2682894"/>
          </a:xfrm>
        </p:grpSpPr>
        <p:sp>
          <p:nvSpPr>
            <p:cNvPr name="Freeform 15" id="15"/>
            <p:cNvSpPr/>
            <p:nvPr/>
          </p:nvSpPr>
          <p:spPr>
            <a:xfrm flipH="false" flipV="false" rot="0">
              <a:off x="0" y="0"/>
              <a:ext cx="6376243" cy="2682894"/>
            </a:xfrm>
            <a:custGeom>
              <a:avLst/>
              <a:gdLst/>
              <a:ahLst/>
              <a:cxnLst/>
              <a:rect r="r" b="b" t="t" l="l"/>
              <a:pathLst>
                <a:path h="2682894" w="6376243">
                  <a:moveTo>
                    <a:pt x="23307" y="0"/>
                  </a:moveTo>
                  <a:lnTo>
                    <a:pt x="6352936" y="0"/>
                  </a:lnTo>
                  <a:cubicBezTo>
                    <a:pt x="6359118" y="0"/>
                    <a:pt x="6365046" y="2456"/>
                    <a:pt x="6369417" y="6826"/>
                  </a:cubicBezTo>
                  <a:cubicBezTo>
                    <a:pt x="6373787" y="11197"/>
                    <a:pt x="6376243" y="17125"/>
                    <a:pt x="6376243" y="23307"/>
                  </a:cubicBezTo>
                  <a:lnTo>
                    <a:pt x="6376243" y="2659587"/>
                  </a:lnTo>
                  <a:cubicBezTo>
                    <a:pt x="6376243" y="2665769"/>
                    <a:pt x="6373787" y="2671697"/>
                    <a:pt x="6369417" y="2676068"/>
                  </a:cubicBezTo>
                  <a:cubicBezTo>
                    <a:pt x="6365046" y="2680439"/>
                    <a:pt x="6359118" y="2682894"/>
                    <a:pt x="6352936" y="2682894"/>
                  </a:cubicBezTo>
                  <a:lnTo>
                    <a:pt x="23307" y="2682894"/>
                  </a:lnTo>
                  <a:cubicBezTo>
                    <a:pt x="17125" y="2682894"/>
                    <a:pt x="11197" y="2680439"/>
                    <a:pt x="6826" y="2676068"/>
                  </a:cubicBezTo>
                  <a:cubicBezTo>
                    <a:pt x="2456" y="2671697"/>
                    <a:pt x="0" y="2665769"/>
                    <a:pt x="0" y="2659587"/>
                  </a:cubicBezTo>
                  <a:lnTo>
                    <a:pt x="0" y="23307"/>
                  </a:lnTo>
                  <a:cubicBezTo>
                    <a:pt x="0" y="17125"/>
                    <a:pt x="2456" y="11197"/>
                    <a:pt x="6826" y="6826"/>
                  </a:cubicBezTo>
                  <a:cubicBezTo>
                    <a:pt x="11197" y="2456"/>
                    <a:pt x="17125" y="0"/>
                    <a:pt x="23307" y="0"/>
                  </a:cubicBezTo>
                  <a:close/>
                </a:path>
              </a:pathLst>
            </a:custGeom>
            <a:solidFill>
              <a:srgbClr val="071330"/>
            </a:solidFill>
          </p:spPr>
        </p:sp>
        <p:sp>
          <p:nvSpPr>
            <p:cNvPr name="TextBox 16" id="16"/>
            <p:cNvSpPr txBox="true"/>
            <p:nvPr/>
          </p:nvSpPr>
          <p:spPr>
            <a:xfrm>
              <a:off x="0" y="-38100"/>
              <a:ext cx="6376243" cy="2720994"/>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7110039" y="607885"/>
            <a:ext cx="210976" cy="210976"/>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name="Group 19" id="19"/>
          <p:cNvGrpSpPr/>
          <p:nvPr/>
        </p:nvGrpSpPr>
        <p:grpSpPr>
          <a:xfrm rot="0">
            <a:off x="7385749" y="607885"/>
            <a:ext cx="210976" cy="210976"/>
            <a:chOff x="0" y="0"/>
            <a:chExt cx="6350000" cy="6350000"/>
          </a:xfrm>
        </p:grpSpPr>
        <p:sp>
          <p:nvSpPr>
            <p:cNvPr name="Freeform 20" id="2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name="Group 21" id="21"/>
          <p:cNvGrpSpPr/>
          <p:nvPr/>
        </p:nvGrpSpPr>
        <p:grpSpPr>
          <a:xfrm rot="0">
            <a:off x="7660330" y="607885"/>
            <a:ext cx="210976" cy="210976"/>
            <a:chOff x="0" y="0"/>
            <a:chExt cx="6350000" cy="6350000"/>
          </a:xfrm>
        </p:grpSpPr>
        <p:sp>
          <p:nvSpPr>
            <p:cNvPr name="Freeform 22" id="2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name="Freeform 23" id="23"/>
          <p:cNvSpPr/>
          <p:nvPr/>
        </p:nvSpPr>
        <p:spPr>
          <a:xfrm flipH="false" flipV="false" rot="0">
            <a:off x="6731589" y="5400601"/>
            <a:ext cx="10297503" cy="4157617"/>
          </a:xfrm>
          <a:custGeom>
            <a:avLst/>
            <a:gdLst/>
            <a:ahLst/>
            <a:cxnLst/>
            <a:rect r="r" b="b" t="t" l="l"/>
            <a:pathLst>
              <a:path h="4157617" w="10297503">
                <a:moveTo>
                  <a:pt x="0" y="0"/>
                </a:moveTo>
                <a:lnTo>
                  <a:pt x="10297503" y="0"/>
                </a:lnTo>
                <a:lnTo>
                  <a:pt x="10297503" y="4157617"/>
                </a:lnTo>
                <a:lnTo>
                  <a:pt x="0" y="4157617"/>
                </a:lnTo>
                <a:lnTo>
                  <a:pt x="0" y="0"/>
                </a:lnTo>
                <a:close/>
              </a:path>
            </a:pathLst>
          </a:custGeom>
          <a:blipFill>
            <a:blip r:embed="rId4"/>
            <a:stretch>
              <a:fillRect l="0" t="0" r="0" b="0"/>
            </a:stretch>
          </a:blipFill>
        </p:spPr>
      </p:sp>
      <p:sp>
        <p:nvSpPr>
          <p:cNvPr name="TextBox 24" id="24"/>
          <p:cNvSpPr txBox="true"/>
          <p:nvPr/>
        </p:nvSpPr>
        <p:spPr>
          <a:xfrm rot="0">
            <a:off x="1028700" y="1275470"/>
            <a:ext cx="6842606" cy="2084873"/>
          </a:xfrm>
          <a:prstGeom prst="rect">
            <a:avLst/>
          </a:prstGeom>
        </p:spPr>
        <p:txBody>
          <a:bodyPr anchor="t" rtlCol="false" tIns="0" lIns="0" bIns="0" rIns="0">
            <a:spAutoFit/>
          </a:bodyPr>
          <a:lstStyle/>
          <a:p>
            <a:pPr algn="l">
              <a:lnSpc>
                <a:spcPts val="8125"/>
              </a:lnSpc>
            </a:pPr>
            <a:r>
              <a:rPr lang="en-US" sz="7813" b="true">
                <a:solidFill>
                  <a:srgbClr val="FFFFFF"/>
                </a:solidFill>
                <a:latin typeface="Canva Sans Bold"/>
                <a:ea typeface="Canva Sans Bold"/>
                <a:cs typeface="Canva Sans Bold"/>
                <a:sym typeface="Canva Sans Bold"/>
              </a:rPr>
              <a:t>Bối cảnh Nghiệp vụ</a:t>
            </a:r>
          </a:p>
        </p:txBody>
      </p:sp>
      <p:sp>
        <p:nvSpPr>
          <p:cNvPr name="TextBox 25" id="25"/>
          <p:cNvSpPr txBox="true"/>
          <p:nvPr/>
        </p:nvSpPr>
        <p:spPr>
          <a:xfrm rot="0">
            <a:off x="1146875" y="5920271"/>
            <a:ext cx="4922779" cy="515366"/>
          </a:xfrm>
          <a:prstGeom prst="rect">
            <a:avLst/>
          </a:prstGeom>
        </p:spPr>
        <p:txBody>
          <a:bodyPr anchor="t" rtlCol="false" tIns="0" lIns="0" bIns="0" rIns="0">
            <a:spAutoFit/>
          </a:bodyPr>
          <a:lstStyle/>
          <a:p>
            <a:pPr algn="ctr">
              <a:lnSpc>
                <a:spcPts val="3952"/>
              </a:lnSpc>
            </a:pPr>
            <a:r>
              <a:rPr lang="en-US" b="true" sz="3800">
                <a:solidFill>
                  <a:srgbClr val="071330"/>
                </a:solidFill>
                <a:latin typeface="Canva Sans Bold"/>
                <a:ea typeface="Canva Sans Bold"/>
                <a:cs typeface="Canva Sans Bold"/>
                <a:sym typeface="Canva Sans Bold"/>
              </a:rPr>
              <a:t>Giỏ hàng</a:t>
            </a:r>
          </a:p>
        </p:txBody>
      </p:sp>
      <p:sp>
        <p:nvSpPr>
          <p:cNvPr name="TextBox 26" id="26"/>
          <p:cNvSpPr txBox="true"/>
          <p:nvPr/>
        </p:nvSpPr>
        <p:spPr>
          <a:xfrm rot="0">
            <a:off x="7426275" y="1517344"/>
            <a:ext cx="8908131" cy="2199640"/>
          </a:xfrm>
          <a:prstGeom prst="rect">
            <a:avLst/>
          </a:prstGeom>
        </p:spPr>
        <p:txBody>
          <a:bodyPr anchor="t" rtlCol="false" tIns="0" lIns="0" bIns="0" rIns="0">
            <a:spAutoFit/>
          </a:bodyPr>
          <a:lstStyle/>
          <a:p>
            <a:pPr algn="l">
              <a:lnSpc>
                <a:spcPts val="2480"/>
              </a:lnSpc>
            </a:pPr>
            <a:r>
              <a:rPr lang="en-US" sz="2000">
                <a:solidFill>
                  <a:srgbClr val="FFFFFF"/>
                </a:solidFill>
                <a:latin typeface="Canva Sans"/>
                <a:ea typeface="Canva Sans"/>
                <a:cs typeface="Canva Sans"/>
                <a:sym typeface="Canva Sans"/>
              </a:rPr>
              <a:t>  Người mua có thể thêm điện thoại từ danh mục hoặc chi tiết sản phẩm vào giỏ hàng. Giỏ hàng hiển thị danh sách sản phẩm kèm số lượng, giá từng máy, phí vận chuyển và tổng cộng. Người mua có thể chỉnh sửa số lượng hoặc xoá sản phẩm, hệ thống sẽ cập nhật giỏ hàng và tổng tiền theo thời gian thực. Quản trị viên có thể theo dõi giỏ hàng của người mua trong trường hợp cần hỗ trợ.</a:t>
            </a:r>
          </a:p>
          <a:p>
            <a:pPr algn="l">
              <a:lnSpc>
                <a:spcPts val="248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6AC66B"/>
        </a:solidFill>
      </p:bgPr>
    </p:bg>
    <p:spTree>
      <p:nvGrpSpPr>
        <p:cNvPr id="1" name=""/>
        <p:cNvGrpSpPr/>
        <p:nvPr/>
      </p:nvGrpSpPr>
      <p:grpSpPr>
        <a:xfrm>
          <a:off x="0" y="0"/>
          <a:ext cx="0" cy="0"/>
          <a:chOff x="0" y="0"/>
          <a:chExt cx="0" cy="0"/>
        </a:xfrm>
      </p:grpSpPr>
      <p:grpSp>
        <p:nvGrpSpPr>
          <p:cNvPr name="Group 2" id="2"/>
          <p:cNvGrpSpPr/>
          <p:nvPr/>
        </p:nvGrpSpPr>
        <p:grpSpPr>
          <a:xfrm rot="0">
            <a:off x="-460312" y="-201041"/>
            <a:ext cx="19208624" cy="10689082"/>
            <a:chOff x="0" y="0"/>
            <a:chExt cx="25611499" cy="14252110"/>
          </a:xfrm>
        </p:grpSpPr>
        <p:sp>
          <p:nvSpPr>
            <p:cNvPr name="Freeform 3" id="3"/>
            <p:cNvSpPr/>
            <p:nvPr/>
          </p:nvSpPr>
          <p:spPr>
            <a:xfrm flipH="false" flipV="false" rot="0">
              <a:off x="0"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359389"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028700" y="5143500"/>
            <a:ext cx="5040954" cy="2134073"/>
            <a:chOff x="0" y="0"/>
            <a:chExt cx="2642343" cy="1118628"/>
          </a:xfrm>
        </p:grpSpPr>
        <p:sp>
          <p:nvSpPr>
            <p:cNvPr name="Freeform 6" id="6"/>
            <p:cNvSpPr/>
            <p:nvPr/>
          </p:nvSpPr>
          <p:spPr>
            <a:xfrm flipH="false" flipV="false" rot="0">
              <a:off x="0" y="0"/>
              <a:ext cx="2642343" cy="1118628"/>
            </a:xfrm>
            <a:custGeom>
              <a:avLst/>
              <a:gdLst/>
              <a:ahLst/>
              <a:cxnLst/>
              <a:rect r="r" b="b" t="t" l="l"/>
              <a:pathLst>
                <a:path h="1118628" w="2642343">
                  <a:moveTo>
                    <a:pt x="50682" y="0"/>
                  </a:moveTo>
                  <a:lnTo>
                    <a:pt x="2591661" y="0"/>
                  </a:lnTo>
                  <a:cubicBezTo>
                    <a:pt x="2605103" y="0"/>
                    <a:pt x="2617994" y="5340"/>
                    <a:pt x="2627499" y="14844"/>
                  </a:cubicBezTo>
                  <a:cubicBezTo>
                    <a:pt x="2637003" y="24349"/>
                    <a:pt x="2642343" y="37240"/>
                    <a:pt x="2642343" y="50682"/>
                  </a:cubicBezTo>
                  <a:lnTo>
                    <a:pt x="2642343" y="1067947"/>
                  </a:lnTo>
                  <a:cubicBezTo>
                    <a:pt x="2642343" y="1095937"/>
                    <a:pt x="2619652" y="1118628"/>
                    <a:pt x="2591661" y="1118628"/>
                  </a:cubicBezTo>
                  <a:lnTo>
                    <a:pt x="50682" y="1118628"/>
                  </a:lnTo>
                  <a:cubicBezTo>
                    <a:pt x="22691" y="1118628"/>
                    <a:pt x="0" y="1095937"/>
                    <a:pt x="0" y="1067947"/>
                  </a:cubicBezTo>
                  <a:lnTo>
                    <a:pt x="0" y="50682"/>
                  </a:lnTo>
                  <a:cubicBezTo>
                    <a:pt x="0" y="22691"/>
                    <a:pt x="22691" y="0"/>
                    <a:pt x="50682" y="0"/>
                  </a:cubicBezTo>
                  <a:close/>
                </a:path>
              </a:pathLst>
            </a:custGeom>
            <a:solidFill>
              <a:srgbClr val="FFFFFF"/>
            </a:solidFill>
          </p:spPr>
        </p:sp>
        <p:sp>
          <p:nvSpPr>
            <p:cNvPr name="TextBox 7" id="7"/>
            <p:cNvSpPr txBox="true"/>
            <p:nvPr/>
          </p:nvSpPr>
          <p:spPr>
            <a:xfrm>
              <a:off x="0" y="-38100"/>
              <a:ext cx="2642343" cy="11567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386261" y="5400601"/>
            <a:ext cx="168128" cy="174620"/>
            <a:chOff x="0" y="0"/>
            <a:chExt cx="6113909" cy="6350000"/>
          </a:xfrm>
        </p:grpSpPr>
        <p:sp>
          <p:nvSpPr>
            <p:cNvPr name="Freeform 9" id="9"/>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DE0F3F"/>
            </a:solidFill>
          </p:spPr>
        </p:sp>
      </p:grpSp>
      <p:grpSp>
        <p:nvGrpSpPr>
          <p:cNvPr name="Group 10" id="10"/>
          <p:cNvGrpSpPr/>
          <p:nvPr/>
        </p:nvGrpSpPr>
        <p:grpSpPr>
          <a:xfrm rot="0">
            <a:off x="1605975" y="5400601"/>
            <a:ext cx="168128" cy="174620"/>
            <a:chOff x="0" y="0"/>
            <a:chExt cx="6113909" cy="6350000"/>
          </a:xfrm>
        </p:grpSpPr>
        <p:sp>
          <p:nvSpPr>
            <p:cNvPr name="Freeform 11" id="11"/>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FFCF60"/>
            </a:solidFill>
          </p:spPr>
        </p:sp>
      </p:grpSp>
      <p:grpSp>
        <p:nvGrpSpPr>
          <p:cNvPr name="Group 12" id="12"/>
          <p:cNvGrpSpPr/>
          <p:nvPr/>
        </p:nvGrpSpPr>
        <p:grpSpPr>
          <a:xfrm rot="0">
            <a:off x="1824791" y="5400601"/>
            <a:ext cx="168128" cy="174620"/>
            <a:chOff x="0" y="0"/>
            <a:chExt cx="6113909" cy="6350000"/>
          </a:xfrm>
        </p:grpSpPr>
        <p:sp>
          <p:nvSpPr>
            <p:cNvPr name="Freeform 13" id="13"/>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6AC66B"/>
            </a:solidFill>
          </p:spPr>
        </p:sp>
      </p:grpSp>
      <p:grpSp>
        <p:nvGrpSpPr>
          <p:cNvPr name="Group 14" id="14"/>
          <p:cNvGrpSpPr/>
          <p:nvPr/>
        </p:nvGrpSpPr>
        <p:grpSpPr>
          <a:xfrm rot="0">
            <a:off x="6731589" y="302550"/>
            <a:ext cx="10297503" cy="4332819"/>
            <a:chOff x="0" y="0"/>
            <a:chExt cx="6376243" cy="2682894"/>
          </a:xfrm>
        </p:grpSpPr>
        <p:sp>
          <p:nvSpPr>
            <p:cNvPr name="Freeform 15" id="15"/>
            <p:cNvSpPr/>
            <p:nvPr/>
          </p:nvSpPr>
          <p:spPr>
            <a:xfrm flipH="false" flipV="false" rot="0">
              <a:off x="0" y="0"/>
              <a:ext cx="6376243" cy="2682894"/>
            </a:xfrm>
            <a:custGeom>
              <a:avLst/>
              <a:gdLst/>
              <a:ahLst/>
              <a:cxnLst/>
              <a:rect r="r" b="b" t="t" l="l"/>
              <a:pathLst>
                <a:path h="2682894" w="6376243">
                  <a:moveTo>
                    <a:pt x="23307" y="0"/>
                  </a:moveTo>
                  <a:lnTo>
                    <a:pt x="6352936" y="0"/>
                  </a:lnTo>
                  <a:cubicBezTo>
                    <a:pt x="6359118" y="0"/>
                    <a:pt x="6365046" y="2456"/>
                    <a:pt x="6369417" y="6826"/>
                  </a:cubicBezTo>
                  <a:cubicBezTo>
                    <a:pt x="6373787" y="11197"/>
                    <a:pt x="6376243" y="17125"/>
                    <a:pt x="6376243" y="23307"/>
                  </a:cubicBezTo>
                  <a:lnTo>
                    <a:pt x="6376243" y="2659587"/>
                  </a:lnTo>
                  <a:cubicBezTo>
                    <a:pt x="6376243" y="2665769"/>
                    <a:pt x="6373787" y="2671697"/>
                    <a:pt x="6369417" y="2676068"/>
                  </a:cubicBezTo>
                  <a:cubicBezTo>
                    <a:pt x="6365046" y="2680439"/>
                    <a:pt x="6359118" y="2682894"/>
                    <a:pt x="6352936" y="2682894"/>
                  </a:cubicBezTo>
                  <a:lnTo>
                    <a:pt x="23307" y="2682894"/>
                  </a:lnTo>
                  <a:cubicBezTo>
                    <a:pt x="17125" y="2682894"/>
                    <a:pt x="11197" y="2680439"/>
                    <a:pt x="6826" y="2676068"/>
                  </a:cubicBezTo>
                  <a:cubicBezTo>
                    <a:pt x="2456" y="2671697"/>
                    <a:pt x="0" y="2665769"/>
                    <a:pt x="0" y="2659587"/>
                  </a:cubicBezTo>
                  <a:lnTo>
                    <a:pt x="0" y="23307"/>
                  </a:lnTo>
                  <a:cubicBezTo>
                    <a:pt x="0" y="17125"/>
                    <a:pt x="2456" y="11197"/>
                    <a:pt x="6826" y="6826"/>
                  </a:cubicBezTo>
                  <a:cubicBezTo>
                    <a:pt x="11197" y="2456"/>
                    <a:pt x="17125" y="0"/>
                    <a:pt x="23307" y="0"/>
                  </a:cubicBezTo>
                  <a:close/>
                </a:path>
              </a:pathLst>
            </a:custGeom>
            <a:solidFill>
              <a:srgbClr val="071330"/>
            </a:solidFill>
          </p:spPr>
        </p:sp>
        <p:sp>
          <p:nvSpPr>
            <p:cNvPr name="TextBox 16" id="16"/>
            <p:cNvSpPr txBox="true"/>
            <p:nvPr/>
          </p:nvSpPr>
          <p:spPr>
            <a:xfrm>
              <a:off x="0" y="-38100"/>
              <a:ext cx="6376243" cy="2720994"/>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7110039" y="607885"/>
            <a:ext cx="210976" cy="210976"/>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name="Group 19" id="19"/>
          <p:cNvGrpSpPr/>
          <p:nvPr/>
        </p:nvGrpSpPr>
        <p:grpSpPr>
          <a:xfrm rot="0">
            <a:off x="7385749" y="607885"/>
            <a:ext cx="210976" cy="210976"/>
            <a:chOff x="0" y="0"/>
            <a:chExt cx="6350000" cy="6350000"/>
          </a:xfrm>
        </p:grpSpPr>
        <p:sp>
          <p:nvSpPr>
            <p:cNvPr name="Freeform 20" id="2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name="Group 21" id="21"/>
          <p:cNvGrpSpPr/>
          <p:nvPr/>
        </p:nvGrpSpPr>
        <p:grpSpPr>
          <a:xfrm rot="0">
            <a:off x="7660330" y="607885"/>
            <a:ext cx="210976" cy="210976"/>
            <a:chOff x="0" y="0"/>
            <a:chExt cx="6350000" cy="6350000"/>
          </a:xfrm>
        </p:grpSpPr>
        <p:sp>
          <p:nvSpPr>
            <p:cNvPr name="Freeform 22" id="2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name="Freeform 23" id="23"/>
          <p:cNvSpPr/>
          <p:nvPr/>
        </p:nvSpPr>
        <p:spPr>
          <a:xfrm flipH="false" flipV="false" rot="0">
            <a:off x="6522751" y="4978269"/>
            <a:ext cx="10506341" cy="5082442"/>
          </a:xfrm>
          <a:custGeom>
            <a:avLst/>
            <a:gdLst/>
            <a:ahLst/>
            <a:cxnLst/>
            <a:rect r="r" b="b" t="t" l="l"/>
            <a:pathLst>
              <a:path h="5082442" w="10506341">
                <a:moveTo>
                  <a:pt x="0" y="0"/>
                </a:moveTo>
                <a:lnTo>
                  <a:pt x="10506341" y="0"/>
                </a:lnTo>
                <a:lnTo>
                  <a:pt x="10506341" y="5082442"/>
                </a:lnTo>
                <a:lnTo>
                  <a:pt x="0" y="5082442"/>
                </a:lnTo>
                <a:lnTo>
                  <a:pt x="0" y="0"/>
                </a:lnTo>
                <a:close/>
              </a:path>
            </a:pathLst>
          </a:custGeom>
          <a:blipFill>
            <a:blip r:embed="rId4"/>
            <a:stretch>
              <a:fillRect l="0" t="0" r="0" b="0"/>
            </a:stretch>
          </a:blipFill>
        </p:spPr>
      </p:sp>
      <p:sp>
        <p:nvSpPr>
          <p:cNvPr name="TextBox 24" id="24"/>
          <p:cNvSpPr txBox="true"/>
          <p:nvPr/>
        </p:nvSpPr>
        <p:spPr>
          <a:xfrm rot="0">
            <a:off x="1028700" y="1275470"/>
            <a:ext cx="6842606" cy="2084873"/>
          </a:xfrm>
          <a:prstGeom prst="rect">
            <a:avLst/>
          </a:prstGeom>
        </p:spPr>
        <p:txBody>
          <a:bodyPr anchor="t" rtlCol="false" tIns="0" lIns="0" bIns="0" rIns="0">
            <a:spAutoFit/>
          </a:bodyPr>
          <a:lstStyle/>
          <a:p>
            <a:pPr algn="l">
              <a:lnSpc>
                <a:spcPts val="8125"/>
              </a:lnSpc>
            </a:pPr>
            <a:r>
              <a:rPr lang="en-US" sz="7813" b="true">
                <a:solidFill>
                  <a:srgbClr val="FFFFFF"/>
                </a:solidFill>
                <a:latin typeface="Canva Sans Bold"/>
                <a:ea typeface="Canva Sans Bold"/>
                <a:cs typeface="Canva Sans Bold"/>
                <a:sym typeface="Canva Sans Bold"/>
              </a:rPr>
              <a:t>Bối cảnh Nghiệp vụ</a:t>
            </a:r>
          </a:p>
        </p:txBody>
      </p:sp>
      <p:sp>
        <p:nvSpPr>
          <p:cNvPr name="TextBox 25" id="25"/>
          <p:cNvSpPr txBox="true"/>
          <p:nvPr/>
        </p:nvSpPr>
        <p:spPr>
          <a:xfrm rot="0">
            <a:off x="1146875" y="5920271"/>
            <a:ext cx="4922779" cy="515366"/>
          </a:xfrm>
          <a:prstGeom prst="rect">
            <a:avLst/>
          </a:prstGeom>
        </p:spPr>
        <p:txBody>
          <a:bodyPr anchor="t" rtlCol="false" tIns="0" lIns="0" bIns="0" rIns="0">
            <a:spAutoFit/>
          </a:bodyPr>
          <a:lstStyle/>
          <a:p>
            <a:pPr algn="ctr">
              <a:lnSpc>
                <a:spcPts val="3952"/>
              </a:lnSpc>
            </a:pPr>
            <a:r>
              <a:rPr lang="en-US" b="true" sz="3800">
                <a:solidFill>
                  <a:srgbClr val="071330"/>
                </a:solidFill>
                <a:latin typeface="Canva Sans Bold"/>
                <a:ea typeface="Canva Sans Bold"/>
                <a:cs typeface="Canva Sans Bold"/>
                <a:sym typeface="Canva Sans Bold"/>
              </a:rPr>
              <a:t>Thanh toán</a:t>
            </a:r>
          </a:p>
        </p:txBody>
      </p:sp>
      <p:sp>
        <p:nvSpPr>
          <p:cNvPr name="TextBox 26" id="26"/>
          <p:cNvSpPr txBox="true"/>
          <p:nvPr/>
        </p:nvSpPr>
        <p:spPr>
          <a:xfrm rot="0">
            <a:off x="7426275" y="1742236"/>
            <a:ext cx="8908131" cy="2055749"/>
          </a:xfrm>
          <a:prstGeom prst="rect">
            <a:avLst/>
          </a:prstGeom>
        </p:spPr>
        <p:txBody>
          <a:bodyPr anchor="t" rtlCol="false" tIns="0" lIns="0" bIns="0" rIns="0">
            <a:spAutoFit/>
          </a:bodyPr>
          <a:lstStyle/>
          <a:p>
            <a:pPr algn="l">
              <a:lnSpc>
                <a:spcPts val="2727"/>
              </a:lnSpc>
            </a:pPr>
            <a:r>
              <a:rPr lang="en-US" sz="2199">
                <a:solidFill>
                  <a:srgbClr val="FFFFFF"/>
                </a:solidFill>
                <a:latin typeface="Canva Sans"/>
                <a:ea typeface="Canva Sans"/>
                <a:cs typeface="Canva Sans"/>
                <a:sym typeface="Canva Sans"/>
              </a:rPr>
              <a:t> Sau khi người mua nhấn nút “Thanh toán”, hệ thống sẽ xác thực thông tin đơn hàng, kiểm tra lại tồn kho, xử lý thanh toán (mô phỏng) và tạo đơn hàng. Người mua nhận được email hoặc thông báo xác nhận đơn hàng kèm thông tin bảo hành và thời gian dự kiến giao hàng.</a:t>
            </a:r>
          </a:p>
          <a:p>
            <a:pPr algn="l">
              <a:lnSpc>
                <a:spcPts val="2727"/>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6AC66B"/>
        </a:solidFill>
      </p:bgPr>
    </p:bg>
    <p:spTree>
      <p:nvGrpSpPr>
        <p:cNvPr id="1" name=""/>
        <p:cNvGrpSpPr/>
        <p:nvPr/>
      </p:nvGrpSpPr>
      <p:grpSpPr>
        <a:xfrm>
          <a:off x="0" y="0"/>
          <a:ext cx="0" cy="0"/>
          <a:chOff x="0" y="0"/>
          <a:chExt cx="0" cy="0"/>
        </a:xfrm>
      </p:grpSpPr>
      <p:grpSp>
        <p:nvGrpSpPr>
          <p:cNvPr name="Group 2" id="2"/>
          <p:cNvGrpSpPr/>
          <p:nvPr/>
        </p:nvGrpSpPr>
        <p:grpSpPr>
          <a:xfrm rot="0">
            <a:off x="-460312" y="-201041"/>
            <a:ext cx="19208624" cy="10689082"/>
            <a:chOff x="0" y="0"/>
            <a:chExt cx="25611499" cy="14252110"/>
          </a:xfrm>
        </p:grpSpPr>
        <p:sp>
          <p:nvSpPr>
            <p:cNvPr name="Freeform 3" id="3"/>
            <p:cNvSpPr/>
            <p:nvPr/>
          </p:nvSpPr>
          <p:spPr>
            <a:xfrm flipH="false" flipV="false" rot="0">
              <a:off x="0"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359389"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028700" y="5143500"/>
            <a:ext cx="5040954" cy="2134073"/>
            <a:chOff x="0" y="0"/>
            <a:chExt cx="2642343" cy="1118628"/>
          </a:xfrm>
        </p:grpSpPr>
        <p:sp>
          <p:nvSpPr>
            <p:cNvPr name="Freeform 6" id="6"/>
            <p:cNvSpPr/>
            <p:nvPr/>
          </p:nvSpPr>
          <p:spPr>
            <a:xfrm flipH="false" flipV="false" rot="0">
              <a:off x="0" y="0"/>
              <a:ext cx="2642343" cy="1118628"/>
            </a:xfrm>
            <a:custGeom>
              <a:avLst/>
              <a:gdLst/>
              <a:ahLst/>
              <a:cxnLst/>
              <a:rect r="r" b="b" t="t" l="l"/>
              <a:pathLst>
                <a:path h="1118628" w="2642343">
                  <a:moveTo>
                    <a:pt x="50682" y="0"/>
                  </a:moveTo>
                  <a:lnTo>
                    <a:pt x="2591661" y="0"/>
                  </a:lnTo>
                  <a:cubicBezTo>
                    <a:pt x="2605103" y="0"/>
                    <a:pt x="2617994" y="5340"/>
                    <a:pt x="2627499" y="14844"/>
                  </a:cubicBezTo>
                  <a:cubicBezTo>
                    <a:pt x="2637003" y="24349"/>
                    <a:pt x="2642343" y="37240"/>
                    <a:pt x="2642343" y="50682"/>
                  </a:cubicBezTo>
                  <a:lnTo>
                    <a:pt x="2642343" y="1067947"/>
                  </a:lnTo>
                  <a:cubicBezTo>
                    <a:pt x="2642343" y="1095937"/>
                    <a:pt x="2619652" y="1118628"/>
                    <a:pt x="2591661" y="1118628"/>
                  </a:cubicBezTo>
                  <a:lnTo>
                    <a:pt x="50682" y="1118628"/>
                  </a:lnTo>
                  <a:cubicBezTo>
                    <a:pt x="22691" y="1118628"/>
                    <a:pt x="0" y="1095937"/>
                    <a:pt x="0" y="1067947"/>
                  </a:cubicBezTo>
                  <a:lnTo>
                    <a:pt x="0" y="50682"/>
                  </a:lnTo>
                  <a:cubicBezTo>
                    <a:pt x="0" y="22691"/>
                    <a:pt x="22691" y="0"/>
                    <a:pt x="50682" y="0"/>
                  </a:cubicBezTo>
                  <a:close/>
                </a:path>
              </a:pathLst>
            </a:custGeom>
            <a:solidFill>
              <a:srgbClr val="FFFFFF"/>
            </a:solidFill>
          </p:spPr>
        </p:sp>
        <p:sp>
          <p:nvSpPr>
            <p:cNvPr name="TextBox 7" id="7"/>
            <p:cNvSpPr txBox="true"/>
            <p:nvPr/>
          </p:nvSpPr>
          <p:spPr>
            <a:xfrm>
              <a:off x="0" y="-38100"/>
              <a:ext cx="2642343" cy="11567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386261" y="5400601"/>
            <a:ext cx="168128" cy="174620"/>
            <a:chOff x="0" y="0"/>
            <a:chExt cx="6113909" cy="6350000"/>
          </a:xfrm>
        </p:grpSpPr>
        <p:sp>
          <p:nvSpPr>
            <p:cNvPr name="Freeform 9" id="9"/>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DE0F3F"/>
            </a:solidFill>
          </p:spPr>
        </p:sp>
      </p:grpSp>
      <p:grpSp>
        <p:nvGrpSpPr>
          <p:cNvPr name="Group 10" id="10"/>
          <p:cNvGrpSpPr/>
          <p:nvPr/>
        </p:nvGrpSpPr>
        <p:grpSpPr>
          <a:xfrm rot="0">
            <a:off x="1605975" y="5400601"/>
            <a:ext cx="168128" cy="174620"/>
            <a:chOff x="0" y="0"/>
            <a:chExt cx="6113909" cy="6350000"/>
          </a:xfrm>
        </p:grpSpPr>
        <p:sp>
          <p:nvSpPr>
            <p:cNvPr name="Freeform 11" id="11"/>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FFCF60"/>
            </a:solidFill>
          </p:spPr>
        </p:sp>
      </p:grpSp>
      <p:grpSp>
        <p:nvGrpSpPr>
          <p:cNvPr name="Group 12" id="12"/>
          <p:cNvGrpSpPr/>
          <p:nvPr/>
        </p:nvGrpSpPr>
        <p:grpSpPr>
          <a:xfrm rot="0">
            <a:off x="1824791" y="5400601"/>
            <a:ext cx="168128" cy="174620"/>
            <a:chOff x="0" y="0"/>
            <a:chExt cx="6113909" cy="6350000"/>
          </a:xfrm>
        </p:grpSpPr>
        <p:sp>
          <p:nvSpPr>
            <p:cNvPr name="Freeform 13" id="13"/>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6AC66B"/>
            </a:solidFill>
          </p:spPr>
        </p:sp>
      </p:grpSp>
      <p:grpSp>
        <p:nvGrpSpPr>
          <p:cNvPr name="Group 14" id="14"/>
          <p:cNvGrpSpPr/>
          <p:nvPr/>
        </p:nvGrpSpPr>
        <p:grpSpPr>
          <a:xfrm rot="0">
            <a:off x="6731589" y="302550"/>
            <a:ext cx="10297503" cy="4332819"/>
            <a:chOff x="0" y="0"/>
            <a:chExt cx="6376243" cy="2682894"/>
          </a:xfrm>
        </p:grpSpPr>
        <p:sp>
          <p:nvSpPr>
            <p:cNvPr name="Freeform 15" id="15"/>
            <p:cNvSpPr/>
            <p:nvPr/>
          </p:nvSpPr>
          <p:spPr>
            <a:xfrm flipH="false" flipV="false" rot="0">
              <a:off x="0" y="0"/>
              <a:ext cx="6376243" cy="2682894"/>
            </a:xfrm>
            <a:custGeom>
              <a:avLst/>
              <a:gdLst/>
              <a:ahLst/>
              <a:cxnLst/>
              <a:rect r="r" b="b" t="t" l="l"/>
              <a:pathLst>
                <a:path h="2682894" w="6376243">
                  <a:moveTo>
                    <a:pt x="23307" y="0"/>
                  </a:moveTo>
                  <a:lnTo>
                    <a:pt x="6352936" y="0"/>
                  </a:lnTo>
                  <a:cubicBezTo>
                    <a:pt x="6359118" y="0"/>
                    <a:pt x="6365046" y="2456"/>
                    <a:pt x="6369417" y="6826"/>
                  </a:cubicBezTo>
                  <a:cubicBezTo>
                    <a:pt x="6373787" y="11197"/>
                    <a:pt x="6376243" y="17125"/>
                    <a:pt x="6376243" y="23307"/>
                  </a:cubicBezTo>
                  <a:lnTo>
                    <a:pt x="6376243" y="2659587"/>
                  </a:lnTo>
                  <a:cubicBezTo>
                    <a:pt x="6376243" y="2665769"/>
                    <a:pt x="6373787" y="2671697"/>
                    <a:pt x="6369417" y="2676068"/>
                  </a:cubicBezTo>
                  <a:cubicBezTo>
                    <a:pt x="6365046" y="2680439"/>
                    <a:pt x="6359118" y="2682894"/>
                    <a:pt x="6352936" y="2682894"/>
                  </a:cubicBezTo>
                  <a:lnTo>
                    <a:pt x="23307" y="2682894"/>
                  </a:lnTo>
                  <a:cubicBezTo>
                    <a:pt x="17125" y="2682894"/>
                    <a:pt x="11197" y="2680439"/>
                    <a:pt x="6826" y="2676068"/>
                  </a:cubicBezTo>
                  <a:cubicBezTo>
                    <a:pt x="2456" y="2671697"/>
                    <a:pt x="0" y="2665769"/>
                    <a:pt x="0" y="2659587"/>
                  </a:cubicBezTo>
                  <a:lnTo>
                    <a:pt x="0" y="23307"/>
                  </a:lnTo>
                  <a:cubicBezTo>
                    <a:pt x="0" y="17125"/>
                    <a:pt x="2456" y="11197"/>
                    <a:pt x="6826" y="6826"/>
                  </a:cubicBezTo>
                  <a:cubicBezTo>
                    <a:pt x="11197" y="2456"/>
                    <a:pt x="17125" y="0"/>
                    <a:pt x="23307" y="0"/>
                  </a:cubicBezTo>
                  <a:close/>
                </a:path>
              </a:pathLst>
            </a:custGeom>
            <a:solidFill>
              <a:srgbClr val="071330"/>
            </a:solidFill>
          </p:spPr>
        </p:sp>
        <p:sp>
          <p:nvSpPr>
            <p:cNvPr name="TextBox 16" id="16"/>
            <p:cNvSpPr txBox="true"/>
            <p:nvPr/>
          </p:nvSpPr>
          <p:spPr>
            <a:xfrm>
              <a:off x="0" y="-38100"/>
              <a:ext cx="6376243" cy="2720994"/>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7110039" y="607885"/>
            <a:ext cx="210976" cy="210976"/>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name="Group 19" id="19"/>
          <p:cNvGrpSpPr/>
          <p:nvPr/>
        </p:nvGrpSpPr>
        <p:grpSpPr>
          <a:xfrm rot="0">
            <a:off x="7385749" y="607885"/>
            <a:ext cx="210976" cy="210976"/>
            <a:chOff x="0" y="0"/>
            <a:chExt cx="6350000" cy="6350000"/>
          </a:xfrm>
        </p:grpSpPr>
        <p:sp>
          <p:nvSpPr>
            <p:cNvPr name="Freeform 20" id="2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name="Group 21" id="21"/>
          <p:cNvGrpSpPr/>
          <p:nvPr/>
        </p:nvGrpSpPr>
        <p:grpSpPr>
          <a:xfrm rot="0">
            <a:off x="7660330" y="607885"/>
            <a:ext cx="210976" cy="210976"/>
            <a:chOff x="0" y="0"/>
            <a:chExt cx="6350000" cy="6350000"/>
          </a:xfrm>
        </p:grpSpPr>
        <p:sp>
          <p:nvSpPr>
            <p:cNvPr name="Freeform 22" id="2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name="Freeform 23" id="23"/>
          <p:cNvSpPr/>
          <p:nvPr/>
        </p:nvSpPr>
        <p:spPr>
          <a:xfrm flipH="false" flipV="false" rot="0">
            <a:off x="6731589" y="5736956"/>
            <a:ext cx="10297503" cy="3114995"/>
          </a:xfrm>
          <a:custGeom>
            <a:avLst/>
            <a:gdLst/>
            <a:ahLst/>
            <a:cxnLst/>
            <a:rect r="r" b="b" t="t" l="l"/>
            <a:pathLst>
              <a:path h="3114995" w="10297503">
                <a:moveTo>
                  <a:pt x="0" y="0"/>
                </a:moveTo>
                <a:lnTo>
                  <a:pt x="10297503" y="0"/>
                </a:lnTo>
                <a:lnTo>
                  <a:pt x="10297503" y="3114994"/>
                </a:lnTo>
                <a:lnTo>
                  <a:pt x="0" y="3114994"/>
                </a:lnTo>
                <a:lnTo>
                  <a:pt x="0" y="0"/>
                </a:lnTo>
                <a:close/>
              </a:path>
            </a:pathLst>
          </a:custGeom>
          <a:blipFill>
            <a:blip r:embed="rId4"/>
            <a:stretch>
              <a:fillRect l="0" t="0" r="0" b="0"/>
            </a:stretch>
          </a:blipFill>
        </p:spPr>
      </p:sp>
      <p:sp>
        <p:nvSpPr>
          <p:cNvPr name="TextBox 24" id="24"/>
          <p:cNvSpPr txBox="true"/>
          <p:nvPr/>
        </p:nvSpPr>
        <p:spPr>
          <a:xfrm rot="0">
            <a:off x="1028700" y="1275470"/>
            <a:ext cx="6842606" cy="2084873"/>
          </a:xfrm>
          <a:prstGeom prst="rect">
            <a:avLst/>
          </a:prstGeom>
        </p:spPr>
        <p:txBody>
          <a:bodyPr anchor="t" rtlCol="false" tIns="0" lIns="0" bIns="0" rIns="0">
            <a:spAutoFit/>
          </a:bodyPr>
          <a:lstStyle/>
          <a:p>
            <a:pPr algn="l">
              <a:lnSpc>
                <a:spcPts val="8125"/>
              </a:lnSpc>
            </a:pPr>
            <a:r>
              <a:rPr lang="en-US" sz="7813" b="true">
                <a:solidFill>
                  <a:srgbClr val="FFFFFF"/>
                </a:solidFill>
                <a:latin typeface="Canva Sans Bold"/>
                <a:ea typeface="Canva Sans Bold"/>
                <a:cs typeface="Canva Sans Bold"/>
                <a:sym typeface="Canva Sans Bold"/>
              </a:rPr>
              <a:t>Bối cảnh Nghiệp vụ</a:t>
            </a:r>
          </a:p>
        </p:txBody>
      </p:sp>
      <p:sp>
        <p:nvSpPr>
          <p:cNvPr name="TextBox 25" id="25"/>
          <p:cNvSpPr txBox="true"/>
          <p:nvPr/>
        </p:nvSpPr>
        <p:spPr>
          <a:xfrm rot="0">
            <a:off x="1146875" y="5920271"/>
            <a:ext cx="4922779" cy="515366"/>
          </a:xfrm>
          <a:prstGeom prst="rect">
            <a:avLst/>
          </a:prstGeom>
        </p:spPr>
        <p:txBody>
          <a:bodyPr anchor="t" rtlCol="false" tIns="0" lIns="0" bIns="0" rIns="0">
            <a:spAutoFit/>
          </a:bodyPr>
          <a:lstStyle/>
          <a:p>
            <a:pPr algn="ctr">
              <a:lnSpc>
                <a:spcPts val="3952"/>
              </a:lnSpc>
            </a:pPr>
            <a:r>
              <a:rPr lang="en-US" b="true" sz="3800">
                <a:solidFill>
                  <a:srgbClr val="071330"/>
                </a:solidFill>
                <a:latin typeface="Canva Sans Bold"/>
                <a:ea typeface="Canva Sans Bold"/>
                <a:cs typeface="Canva Sans Bold"/>
                <a:sym typeface="Canva Sans Bold"/>
              </a:rPr>
              <a:t>Kho hàng</a:t>
            </a:r>
          </a:p>
        </p:txBody>
      </p:sp>
      <p:sp>
        <p:nvSpPr>
          <p:cNvPr name="TextBox 26" id="26"/>
          <p:cNvSpPr txBox="true"/>
          <p:nvPr/>
        </p:nvSpPr>
        <p:spPr>
          <a:xfrm rot="0">
            <a:off x="7426275" y="1893540"/>
            <a:ext cx="8908131" cy="1694053"/>
          </a:xfrm>
          <a:prstGeom prst="rect">
            <a:avLst/>
          </a:prstGeom>
        </p:spPr>
        <p:txBody>
          <a:bodyPr anchor="t" rtlCol="false" tIns="0" lIns="0" bIns="0" rIns="0">
            <a:spAutoFit/>
          </a:bodyPr>
          <a:lstStyle/>
          <a:p>
            <a:pPr algn="l">
              <a:lnSpc>
                <a:spcPts val="2727"/>
              </a:lnSpc>
            </a:pPr>
            <a:r>
              <a:rPr lang="en-US" sz="2199">
                <a:solidFill>
                  <a:srgbClr val="FFFFFF"/>
                </a:solidFill>
                <a:latin typeface="Canva Sans"/>
                <a:ea typeface="Canva Sans"/>
                <a:cs typeface="Canva Sans"/>
                <a:sym typeface="Canva Sans"/>
              </a:rPr>
              <a:t> Quản trị viên có thể quản lý danh sách kho hàng (thêm, sửa, xoá), theo dõi số lượng điện thoại còn lại cho từng mẫu, cập nhật khi nhập thêm hàng mới, điều chuyển giữa các kho hoặc trừ kho khi có đơn hàng thành công.</a:t>
            </a:r>
          </a:p>
          <a:p>
            <a:pPr algn="l">
              <a:lnSpc>
                <a:spcPts val="2604"/>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6AC66B"/>
        </a:solidFill>
      </p:bgPr>
    </p:bg>
    <p:spTree>
      <p:nvGrpSpPr>
        <p:cNvPr id="1" name=""/>
        <p:cNvGrpSpPr/>
        <p:nvPr/>
      </p:nvGrpSpPr>
      <p:grpSpPr>
        <a:xfrm>
          <a:off x="0" y="0"/>
          <a:ext cx="0" cy="0"/>
          <a:chOff x="0" y="0"/>
          <a:chExt cx="0" cy="0"/>
        </a:xfrm>
      </p:grpSpPr>
      <p:grpSp>
        <p:nvGrpSpPr>
          <p:cNvPr name="Group 2" id="2"/>
          <p:cNvGrpSpPr/>
          <p:nvPr/>
        </p:nvGrpSpPr>
        <p:grpSpPr>
          <a:xfrm rot="0">
            <a:off x="-460312" y="-201041"/>
            <a:ext cx="19208624" cy="10689082"/>
            <a:chOff x="0" y="0"/>
            <a:chExt cx="25611499" cy="14252110"/>
          </a:xfrm>
        </p:grpSpPr>
        <p:sp>
          <p:nvSpPr>
            <p:cNvPr name="Freeform 3" id="3"/>
            <p:cNvSpPr/>
            <p:nvPr/>
          </p:nvSpPr>
          <p:spPr>
            <a:xfrm flipH="false" flipV="false" rot="0">
              <a:off x="0"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359389"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028700" y="5143500"/>
            <a:ext cx="5040954" cy="2134073"/>
            <a:chOff x="0" y="0"/>
            <a:chExt cx="2642343" cy="1118628"/>
          </a:xfrm>
        </p:grpSpPr>
        <p:sp>
          <p:nvSpPr>
            <p:cNvPr name="Freeform 6" id="6"/>
            <p:cNvSpPr/>
            <p:nvPr/>
          </p:nvSpPr>
          <p:spPr>
            <a:xfrm flipH="false" flipV="false" rot="0">
              <a:off x="0" y="0"/>
              <a:ext cx="2642343" cy="1118628"/>
            </a:xfrm>
            <a:custGeom>
              <a:avLst/>
              <a:gdLst/>
              <a:ahLst/>
              <a:cxnLst/>
              <a:rect r="r" b="b" t="t" l="l"/>
              <a:pathLst>
                <a:path h="1118628" w="2642343">
                  <a:moveTo>
                    <a:pt x="50682" y="0"/>
                  </a:moveTo>
                  <a:lnTo>
                    <a:pt x="2591661" y="0"/>
                  </a:lnTo>
                  <a:cubicBezTo>
                    <a:pt x="2605103" y="0"/>
                    <a:pt x="2617994" y="5340"/>
                    <a:pt x="2627499" y="14844"/>
                  </a:cubicBezTo>
                  <a:cubicBezTo>
                    <a:pt x="2637003" y="24349"/>
                    <a:pt x="2642343" y="37240"/>
                    <a:pt x="2642343" y="50682"/>
                  </a:cubicBezTo>
                  <a:lnTo>
                    <a:pt x="2642343" y="1067947"/>
                  </a:lnTo>
                  <a:cubicBezTo>
                    <a:pt x="2642343" y="1095937"/>
                    <a:pt x="2619652" y="1118628"/>
                    <a:pt x="2591661" y="1118628"/>
                  </a:cubicBezTo>
                  <a:lnTo>
                    <a:pt x="50682" y="1118628"/>
                  </a:lnTo>
                  <a:cubicBezTo>
                    <a:pt x="22691" y="1118628"/>
                    <a:pt x="0" y="1095937"/>
                    <a:pt x="0" y="1067947"/>
                  </a:cubicBezTo>
                  <a:lnTo>
                    <a:pt x="0" y="50682"/>
                  </a:lnTo>
                  <a:cubicBezTo>
                    <a:pt x="0" y="22691"/>
                    <a:pt x="22691" y="0"/>
                    <a:pt x="50682" y="0"/>
                  </a:cubicBezTo>
                  <a:close/>
                </a:path>
              </a:pathLst>
            </a:custGeom>
            <a:solidFill>
              <a:srgbClr val="FFFFFF"/>
            </a:solidFill>
          </p:spPr>
        </p:sp>
        <p:sp>
          <p:nvSpPr>
            <p:cNvPr name="TextBox 7" id="7"/>
            <p:cNvSpPr txBox="true"/>
            <p:nvPr/>
          </p:nvSpPr>
          <p:spPr>
            <a:xfrm>
              <a:off x="0" y="-38100"/>
              <a:ext cx="2642343" cy="11567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386261" y="5400601"/>
            <a:ext cx="168128" cy="174620"/>
            <a:chOff x="0" y="0"/>
            <a:chExt cx="6113909" cy="6350000"/>
          </a:xfrm>
        </p:grpSpPr>
        <p:sp>
          <p:nvSpPr>
            <p:cNvPr name="Freeform 9" id="9"/>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DE0F3F"/>
            </a:solidFill>
          </p:spPr>
        </p:sp>
      </p:grpSp>
      <p:grpSp>
        <p:nvGrpSpPr>
          <p:cNvPr name="Group 10" id="10"/>
          <p:cNvGrpSpPr/>
          <p:nvPr/>
        </p:nvGrpSpPr>
        <p:grpSpPr>
          <a:xfrm rot="0">
            <a:off x="1605975" y="5400601"/>
            <a:ext cx="168128" cy="174620"/>
            <a:chOff x="0" y="0"/>
            <a:chExt cx="6113909" cy="6350000"/>
          </a:xfrm>
        </p:grpSpPr>
        <p:sp>
          <p:nvSpPr>
            <p:cNvPr name="Freeform 11" id="11"/>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FFCF60"/>
            </a:solidFill>
          </p:spPr>
        </p:sp>
      </p:grpSp>
      <p:grpSp>
        <p:nvGrpSpPr>
          <p:cNvPr name="Group 12" id="12"/>
          <p:cNvGrpSpPr/>
          <p:nvPr/>
        </p:nvGrpSpPr>
        <p:grpSpPr>
          <a:xfrm rot="0">
            <a:off x="1824791" y="5400601"/>
            <a:ext cx="168128" cy="174620"/>
            <a:chOff x="0" y="0"/>
            <a:chExt cx="6113909" cy="6350000"/>
          </a:xfrm>
        </p:grpSpPr>
        <p:sp>
          <p:nvSpPr>
            <p:cNvPr name="Freeform 13" id="13"/>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6AC66B"/>
            </a:solidFill>
          </p:spPr>
        </p:sp>
      </p:grpSp>
      <p:grpSp>
        <p:nvGrpSpPr>
          <p:cNvPr name="Group 14" id="14"/>
          <p:cNvGrpSpPr/>
          <p:nvPr/>
        </p:nvGrpSpPr>
        <p:grpSpPr>
          <a:xfrm rot="0">
            <a:off x="6731589" y="302550"/>
            <a:ext cx="10297503" cy="4332819"/>
            <a:chOff x="0" y="0"/>
            <a:chExt cx="6376243" cy="2682894"/>
          </a:xfrm>
        </p:grpSpPr>
        <p:sp>
          <p:nvSpPr>
            <p:cNvPr name="Freeform 15" id="15"/>
            <p:cNvSpPr/>
            <p:nvPr/>
          </p:nvSpPr>
          <p:spPr>
            <a:xfrm flipH="false" flipV="false" rot="0">
              <a:off x="0" y="0"/>
              <a:ext cx="6376243" cy="2682894"/>
            </a:xfrm>
            <a:custGeom>
              <a:avLst/>
              <a:gdLst/>
              <a:ahLst/>
              <a:cxnLst/>
              <a:rect r="r" b="b" t="t" l="l"/>
              <a:pathLst>
                <a:path h="2682894" w="6376243">
                  <a:moveTo>
                    <a:pt x="23307" y="0"/>
                  </a:moveTo>
                  <a:lnTo>
                    <a:pt x="6352936" y="0"/>
                  </a:lnTo>
                  <a:cubicBezTo>
                    <a:pt x="6359118" y="0"/>
                    <a:pt x="6365046" y="2456"/>
                    <a:pt x="6369417" y="6826"/>
                  </a:cubicBezTo>
                  <a:cubicBezTo>
                    <a:pt x="6373787" y="11197"/>
                    <a:pt x="6376243" y="17125"/>
                    <a:pt x="6376243" y="23307"/>
                  </a:cubicBezTo>
                  <a:lnTo>
                    <a:pt x="6376243" y="2659587"/>
                  </a:lnTo>
                  <a:cubicBezTo>
                    <a:pt x="6376243" y="2665769"/>
                    <a:pt x="6373787" y="2671697"/>
                    <a:pt x="6369417" y="2676068"/>
                  </a:cubicBezTo>
                  <a:cubicBezTo>
                    <a:pt x="6365046" y="2680439"/>
                    <a:pt x="6359118" y="2682894"/>
                    <a:pt x="6352936" y="2682894"/>
                  </a:cubicBezTo>
                  <a:lnTo>
                    <a:pt x="23307" y="2682894"/>
                  </a:lnTo>
                  <a:cubicBezTo>
                    <a:pt x="17125" y="2682894"/>
                    <a:pt x="11197" y="2680439"/>
                    <a:pt x="6826" y="2676068"/>
                  </a:cubicBezTo>
                  <a:cubicBezTo>
                    <a:pt x="2456" y="2671697"/>
                    <a:pt x="0" y="2665769"/>
                    <a:pt x="0" y="2659587"/>
                  </a:cubicBezTo>
                  <a:lnTo>
                    <a:pt x="0" y="23307"/>
                  </a:lnTo>
                  <a:cubicBezTo>
                    <a:pt x="0" y="17125"/>
                    <a:pt x="2456" y="11197"/>
                    <a:pt x="6826" y="6826"/>
                  </a:cubicBezTo>
                  <a:cubicBezTo>
                    <a:pt x="11197" y="2456"/>
                    <a:pt x="17125" y="0"/>
                    <a:pt x="23307" y="0"/>
                  </a:cubicBezTo>
                  <a:close/>
                </a:path>
              </a:pathLst>
            </a:custGeom>
            <a:solidFill>
              <a:srgbClr val="071330"/>
            </a:solidFill>
          </p:spPr>
        </p:sp>
        <p:sp>
          <p:nvSpPr>
            <p:cNvPr name="TextBox 16" id="16"/>
            <p:cNvSpPr txBox="true"/>
            <p:nvPr/>
          </p:nvSpPr>
          <p:spPr>
            <a:xfrm>
              <a:off x="0" y="-38100"/>
              <a:ext cx="6376243" cy="2720994"/>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7110039" y="607885"/>
            <a:ext cx="210976" cy="210976"/>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name="Group 19" id="19"/>
          <p:cNvGrpSpPr/>
          <p:nvPr/>
        </p:nvGrpSpPr>
        <p:grpSpPr>
          <a:xfrm rot="0">
            <a:off x="7385749" y="607885"/>
            <a:ext cx="210976" cy="210976"/>
            <a:chOff x="0" y="0"/>
            <a:chExt cx="6350000" cy="6350000"/>
          </a:xfrm>
        </p:grpSpPr>
        <p:sp>
          <p:nvSpPr>
            <p:cNvPr name="Freeform 20" id="2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name="Group 21" id="21"/>
          <p:cNvGrpSpPr/>
          <p:nvPr/>
        </p:nvGrpSpPr>
        <p:grpSpPr>
          <a:xfrm rot="0">
            <a:off x="7660330" y="607885"/>
            <a:ext cx="210976" cy="210976"/>
            <a:chOff x="0" y="0"/>
            <a:chExt cx="6350000" cy="6350000"/>
          </a:xfrm>
        </p:grpSpPr>
        <p:sp>
          <p:nvSpPr>
            <p:cNvPr name="Freeform 22" id="2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name="Freeform 23" id="23"/>
          <p:cNvSpPr/>
          <p:nvPr/>
        </p:nvSpPr>
        <p:spPr>
          <a:xfrm flipH="false" flipV="false" rot="0">
            <a:off x="6731589" y="5487911"/>
            <a:ext cx="10297503" cy="3440812"/>
          </a:xfrm>
          <a:custGeom>
            <a:avLst/>
            <a:gdLst/>
            <a:ahLst/>
            <a:cxnLst/>
            <a:rect r="r" b="b" t="t" l="l"/>
            <a:pathLst>
              <a:path h="3440812" w="10297503">
                <a:moveTo>
                  <a:pt x="0" y="0"/>
                </a:moveTo>
                <a:lnTo>
                  <a:pt x="10297503" y="0"/>
                </a:lnTo>
                <a:lnTo>
                  <a:pt x="10297503" y="3440813"/>
                </a:lnTo>
                <a:lnTo>
                  <a:pt x="0" y="3440813"/>
                </a:lnTo>
                <a:lnTo>
                  <a:pt x="0" y="0"/>
                </a:lnTo>
                <a:close/>
              </a:path>
            </a:pathLst>
          </a:custGeom>
          <a:blipFill>
            <a:blip r:embed="rId4"/>
            <a:stretch>
              <a:fillRect l="0" t="0" r="0" b="0"/>
            </a:stretch>
          </a:blipFill>
        </p:spPr>
      </p:sp>
      <p:sp>
        <p:nvSpPr>
          <p:cNvPr name="TextBox 24" id="24"/>
          <p:cNvSpPr txBox="true"/>
          <p:nvPr/>
        </p:nvSpPr>
        <p:spPr>
          <a:xfrm rot="0">
            <a:off x="1028700" y="1275470"/>
            <a:ext cx="6842606" cy="2084873"/>
          </a:xfrm>
          <a:prstGeom prst="rect">
            <a:avLst/>
          </a:prstGeom>
        </p:spPr>
        <p:txBody>
          <a:bodyPr anchor="t" rtlCol="false" tIns="0" lIns="0" bIns="0" rIns="0">
            <a:spAutoFit/>
          </a:bodyPr>
          <a:lstStyle/>
          <a:p>
            <a:pPr algn="l">
              <a:lnSpc>
                <a:spcPts val="8125"/>
              </a:lnSpc>
            </a:pPr>
            <a:r>
              <a:rPr lang="en-US" sz="7813" b="true">
                <a:solidFill>
                  <a:srgbClr val="FFFFFF"/>
                </a:solidFill>
                <a:latin typeface="Canva Sans Bold"/>
                <a:ea typeface="Canva Sans Bold"/>
                <a:cs typeface="Canva Sans Bold"/>
                <a:sym typeface="Canva Sans Bold"/>
              </a:rPr>
              <a:t>Bối cảnh Nghiệp vụ</a:t>
            </a:r>
          </a:p>
        </p:txBody>
      </p:sp>
      <p:sp>
        <p:nvSpPr>
          <p:cNvPr name="TextBox 25" id="25"/>
          <p:cNvSpPr txBox="true"/>
          <p:nvPr/>
        </p:nvSpPr>
        <p:spPr>
          <a:xfrm rot="0">
            <a:off x="1146875" y="5920271"/>
            <a:ext cx="4922779" cy="515366"/>
          </a:xfrm>
          <a:prstGeom prst="rect">
            <a:avLst/>
          </a:prstGeom>
        </p:spPr>
        <p:txBody>
          <a:bodyPr anchor="t" rtlCol="false" tIns="0" lIns="0" bIns="0" rIns="0">
            <a:spAutoFit/>
          </a:bodyPr>
          <a:lstStyle/>
          <a:p>
            <a:pPr algn="ctr">
              <a:lnSpc>
                <a:spcPts val="3952"/>
              </a:lnSpc>
            </a:pPr>
            <a:r>
              <a:rPr lang="en-US" b="true" sz="3800">
                <a:solidFill>
                  <a:srgbClr val="071330"/>
                </a:solidFill>
                <a:latin typeface="Canva Sans Bold"/>
                <a:ea typeface="Canva Sans Bold"/>
                <a:cs typeface="Canva Sans Bold"/>
                <a:sym typeface="Canva Sans Bold"/>
              </a:rPr>
              <a:t>Đánh giá</a:t>
            </a:r>
          </a:p>
        </p:txBody>
      </p:sp>
      <p:sp>
        <p:nvSpPr>
          <p:cNvPr name="TextBox 26" id="26"/>
          <p:cNvSpPr txBox="true"/>
          <p:nvPr/>
        </p:nvSpPr>
        <p:spPr>
          <a:xfrm rot="0">
            <a:off x="7426275" y="1893540"/>
            <a:ext cx="8908131" cy="1694053"/>
          </a:xfrm>
          <a:prstGeom prst="rect">
            <a:avLst/>
          </a:prstGeom>
        </p:spPr>
        <p:txBody>
          <a:bodyPr anchor="t" rtlCol="false" tIns="0" lIns="0" bIns="0" rIns="0">
            <a:spAutoFit/>
          </a:bodyPr>
          <a:lstStyle/>
          <a:p>
            <a:pPr algn="l">
              <a:lnSpc>
                <a:spcPts val="2727"/>
              </a:lnSpc>
            </a:pPr>
            <a:r>
              <a:rPr lang="en-US" sz="2199">
                <a:solidFill>
                  <a:srgbClr val="FFFFFF"/>
                </a:solidFill>
                <a:latin typeface="Canva Sans"/>
                <a:ea typeface="Canva Sans"/>
                <a:cs typeface="Canva Sans"/>
                <a:sym typeface="Canva Sans"/>
              </a:rPr>
              <a:t> Người mua có thể đánh giá sản phẩm đã mua với thang điểm từ 1 đến 5 sao và viết bình luận chi tiết (ví dụ: hiệu năng, pin, camera). Hệ thống hiển thị điểm đánh giá trung bình và danh sách nhận xét để hỗ trợ người mua khác.</a:t>
            </a:r>
          </a:p>
          <a:p>
            <a:pPr algn="l">
              <a:lnSpc>
                <a:spcPts val="2604"/>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6AC66B"/>
        </a:solidFill>
      </p:bgPr>
    </p:bg>
    <p:spTree>
      <p:nvGrpSpPr>
        <p:cNvPr id="1" name=""/>
        <p:cNvGrpSpPr/>
        <p:nvPr/>
      </p:nvGrpSpPr>
      <p:grpSpPr>
        <a:xfrm>
          <a:off x="0" y="0"/>
          <a:ext cx="0" cy="0"/>
          <a:chOff x="0" y="0"/>
          <a:chExt cx="0" cy="0"/>
        </a:xfrm>
      </p:grpSpPr>
      <p:grpSp>
        <p:nvGrpSpPr>
          <p:cNvPr name="Group 2" id="2"/>
          <p:cNvGrpSpPr/>
          <p:nvPr/>
        </p:nvGrpSpPr>
        <p:grpSpPr>
          <a:xfrm rot="0">
            <a:off x="-460312" y="-201041"/>
            <a:ext cx="19208624" cy="10689082"/>
            <a:chOff x="0" y="0"/>
            <a:chExt cx="25611499" cy="14252110"/>
          </a:xfrm>
        </p:grpSpPr>
        <p:sp>
          <p:nvSpPr>
            <p:cNvPr name="Freeform 3" id="3"/>
            <p:cNvSpPr/>
            <p:nvPr/>
          </p:nvSpPr>
          <p:spPr>
            <a:xfrm flipH="false" flipV="false" rot="0">
              <a:off x="0"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359389"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028700" y="5143500"/>
            <a:ext cx="5040954" cy="2134073"/>
            <a:chOff x="0" y="0"/>
            <a:chExt cx="2642343" cy="1118628"/>
          </a:xfrm>
        </p:grpSpPr>
        <p:sp>
          <p:nvSpPr>
            <p:cNvPr name="Freeform 6" id="6"/>
            <p:cNvSpPr/>
            <p:nvPr/>
          </p:nvSpPr>
          <p:spPr>
            <a:xfrm flipH="false" flipV="false" rot="0">
              <a:off x="0" y="0"/>
              <a:ext cx="2642343" cy="1118628"/>
            </a:xfrm>
            <a:custGeom>
              <a:avLst/>
              <a:gdLst/>
              <a:ahLst/>
              <a:cxnLst/>
              <a:rect r="r" b="b" t="t" l="l"/>
              <a:pathLst>
                <a:path h="1118628" w="2642343">
                  <a:moveTo>
                    <a:pt x="50682" y="0"/>
                  </a:moveTo>
                  <a:lnTo>
                    <a:pt x="2591661" y="0"/>
                  </a:lnTo>
                  <a:cubicBezTo>
                    <a:pt x="2605103" y="0"/>
                    <a:pt x="2617994" y="5340"/>
                    <a:pt x="2627499" y="14844"/>
                  </a:cubicBezTo>
                  <a:cubicBezTo>
                    <a:pt x="2637003" y="24349"/>
                    <a:pt x="2642343" y="37240"/>
                    <a:pt x="2642343" y="50682"/>
                  </a:cubicBezTo>
                  <a:lnTo>
                    <a:pt x="2642343" y="1067947"/>
                  </a:lnTo>
                  <a:cubicBezTo>
                    <a:pt x="2642343" y="1095937"/>
                    <a:pt x="2619652" y="1118628"/>
                    <a:pt x="2591661" y="1118628"/>
                  </a:cubicBezTo>
                  <a:lnTo>
                    <a:pt x="50682" y="1118628"/>
                  </a:lnTo>
                  <a:cubicBezTo>
                    <a:pt x="22691" y="1118628"/>
                    <a:pt x="0" y="1095937"/>
                    <a:pt x="0" y="1067947"/>
                  </a:cubicBezTo>
                  <a:lnTo>
                    <a:pt x="0" y="50682"/>
                  </a:lnTo>
                  <a:cubicBezTo>
                    <a:pt x="0" y="22691"/>
                    <a:pt x="22691" y="0"/>
                    <a:pt x="50682" y="0"/>
                  </a:cubicBezTo>
                  <a:close/>
                </a:path>
              </a:pathLst>
            </a:custGeom>
            <a:solidFill>
              <a:srgbClr val="FFFFFF"/>
            </a:solidFill>
          </p:spPr>
        </p:sp>
        <p:sp>
          <p:nvSpPr>
            <p:cNvPr name="TextBox 7" id="7"/>
            <p:cNvSpPr txBox="true"/>
            <p:nvPr/>
          </p:nvSpPr>
          <p:spPr>
            <a:xfrm>
              <a:off x="0" y="-38100"/>
              <a:ext cx="2642343" cy="115672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386261" y="5400601"/>
            <a:ext cx="168128" cy="174620"/>
            <a:chOff x="0" y="0"/>
            <a:chExt cx="6113909" cy="6350000"/>
          </a:xfrm>
        </p:grpSpPr>
        <p:sp>
          <p:nvSpPr>
            <p:cNvPr name="Freeform 9" id="9"/>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DE0F3F"/>
            </a:solidFill>
          </p:spPr>
        </p:sp>
      </p:grpSp>
      <p:grpSp>
        <p:nvGrpSpPr>
          <p:cNvPr name="Group 10" id="10"/>
          <p:cNvGrpSpPr/>
          <p:nvPr/>
        </p:nvGrpSpPr>
        <p:grpSpPr>
          <a:xfrm rot="0">
            <a:off x="1605975" y="5400601"/>
            <a:ext cx="168128" cy="174620"/>
            <a:chOff x="0" y="0"/>
            <a:chExt cx="6113909" cy="6350000"/>
          </a:xfrm>
        </p:grpSpPr>
        <p:sp>
          <p:nvSpPr>
            <p:cNvPr name="Freeform 11" id="11"/>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FFCF60"/>
            </a:solidFill>
          </p:spPr>
        </p:sp>
      </p:grpSp>
      <p:grpSp>
        <p:nvGrpSpPr>
          <p:cNvPr name="Group 12" id="12"/>
          <p:cNvGrpSpPr/>
          <p:nvPr/>
        </p:nvGrpSpPr>
        <p:grpSpPr>
          <a:xfrm rot="0">
            <a:off x="1824791" y="5400601"/>
            <a:ext cx="168128" cy="174620"/>
            <a:chOff x="0" y="0"/>
            <a:chExt cx="6113909" cy="6350000"/>
          </a:xfrm>
        </p:grpSpPr>
        <p:sp>
          <p:nvSpPr>
            <p:cNvPr name="Freeform 13" id="13"/>
            <p:cNvSpPr/>
            <p:nvPr/>
          </p:nvSpPr>
          <p:spPr>
            <a:xfrm flipH="false" flipV="false" rot="0">
              <a:off x="0" y="0"/>
              <a:ext cx="6113909" cy="6350000"/>
            </a:xfrm>
            <a:custGeom>
              <a:avLst/>
              <a:gdLst/>
              <a:ahLst/>
              <a:cxnLst/>
              <a:rect r="r" b="b" t="t" l="l"/>
              <a:pathLst>
                <a:path h="6350000" w="6113909">
                  <a:moveTo>
                    <a:pt x="3056954" y="0"/>
                  </a:moveTo>
                  <a:cubicBezTo>
                    <a:pt x="1368645" y="0"/>
                    <a:pt x="0" y="1421496"/>
                    <a:pt x="0" y="3175000"/>
                  </a:cubicBezTo>
                  <a:cubicBezTo>
                    <a:pt x="0" y="4928504"/>
                    <a:pt x="1368645" y="6350000"/>
                    <a:pt x="3056954" y="6350000"/>
                  </a:cubicBezTo>
                  <a:cubicBezTo>
                    <a:pt x="4745264" y="6350000"/>
                    <a:pt x="6113909" y="4928504"/>
                    <a:pt x="6113909" y="3175000"/>
                  </a:cubicBezTo>
                  <a:cubicBezTo>
                    <a:pt x="6113909" y="1421496"/>
                    <a:pt x="4745264" y="0"/>
                    <a:pt x="3056954" y="0"/>
                  </a:cubicBezTo>
                  <a:close/>
                </a:path>
              </a:pathLst>
            </a:custGeom>
            <a:solidFill>
              <a:srgbClr val="6AC66B"/>
            </a:solidFill>
          </p:spPr>
        </p:sp>
      </p:grpSp>
      <p:grpSp>
        <p:nvGrpSpPr>
          <p:cNvPr name="Group 14" id="14"/>
          <p:cNvGrpSpPr/>
          <p:nvPr/>
        </p:nvGrpSpPr>
        <p:grpSpPr>
          <a:xfrm rot="0">
            <a:off x="6731589" y="302550"/>
            <a:ext cx="10297503" cy="4332819"/>
            <a:chOff x="0" y="0"/>
            <a:chExt cx="6376243" cy="2682894"/>
          </a:xfrm>
        </p:grpSpPr>
        <p:sp>
          <p:nvSpPr>
            <p:cNvPr name="Freeform 15" id="15"/>
            <p:cNvSpPr/>
            <p:nvPr/>
          </p:nvSpPr>
          <p:spPr>
            <a:xfrm flipH="false" flipV="false" rot="0">
              <a:off x="0" y="0"/>
              <a:ext cx="6376243" cy="2682894"/>
            </a:xfrm>
            <a:custGeom>
              <a:avLst/>
              <a:gdLst/>
              <a:ahLst/>
              <a:cxnLst/>
              <a:rect r="r" b="b" t="t" l="l"/>
              <a:pathLst>
                <a:path h="2682894" w="6376243">
                  <a:moveTo>
                    <a:pt x="23307" y="0"/>
                  </a:moveTo>
                  <a:lnTo>
                    <a:pt x="6352936" y="0"/>
                  </a:lnTo>
                  <a:cubicBezTo>
                    <a:pt x="6359118" y="0"/>
                    <a:pt x="6365046" y="2456"/>
                    <a:pt x="6369417" y="6826"/>
                  </a:cubicBezTo>
                  <a:cubicBezTo>
                    <a:pt x="6373787" y="11197"/>
                    <a:pt x="6376243" y="17125"/>
                    <a:pt x="6376243" y="23307"/>
                  </a:cubicBezTo>
                  <a:lnTo>
                    <a:pt x="6376243" y="2659587"/>
                  </a:lnTo>
                  <a:cubicBezTo>
                    <a:pt x="6376243" y="2665769"/>
                    <a:pt x="6373787" y="2671697"/>
                    <a:pt x="6369417" y="2676068"/>
                  </a:cubicBezTo>
                  <a:cubicBezTo>
                    <a:pt x="6365046" y="2680439"/>
                    <a:pt x="6359118" y="2682894"/>
                    <a:pt x="6352936" y="2682894"/>
                  </a:cubicBezTo>
                  <a:lnTo>
                    <a:pt x="23307" y="2682894"/>
                  </a:lnTo>
                  <a:cubicBezTo>
                    <a:pt x="17125" y="2682894"/>
                    <a:pt x="11197" y="2680439"/>
                    <a:pt x="6826" y="2676068"/>
                  </a:cubicBezTo>
                  <a:cubicBezTo>
                    <a:pt x="2456" y="2671697"/>
                    <a:pt x="0" y="2665769"/>
                    <a:pt x="0" y="2659587"/>
                  </a:cubicBezTo>
                  <a:lnTo>
                    <a:pt x="0" y="23307"/>
                  </a:lnTo>
                  <a:cubicBezTo>
                    <a:pt x="0" y="17125"/>
                    <a:pt x="2456" y="11197"/>
                    <a:pt x="6826" y="6826"/>
                  </a:cubicBezTo>
                  <a:cubicBezTo>
                    <a:pt x="11197" y="2456"/>
                    <a:pt x="17125" y="0"/>
                    <a:pt x="23307" y="0"/>
                  </a:cubicBezTo>
                  <a:close/>
                </a:path>
              </a:pathLst>
            </a:custGeom>
            <a:solidFill>
              <a:srgbClr val="071330"/>
            </a:solidFill>
          </p:spPr>
        </p:sp>
        <p:sp>
          <p:nvSpPr>
            <p:cNvPr name="TextBox 16" id="16"/>
            <p:cNvSpPr txBox="true"/>
            <p:nvPr/>
          </p:nvSpPr>
          <p:spPr>
            <a:xfrm>
              <a:off x="0" y="-38100"/>
              <a:ext cx="6376243" cy="2720994"/>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7110039" y="607885"/>
            <a:ext cx="210976" cy="210976"/>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name="Group 19" id="19"/>
          <p:cNvGrpSpPr/>
          <p:nvPr/>
        </p:nvGrpSpPr>
        <p:grpSpPr>
          <a:xfrm rot="0">
            <a:off x="7385749" y="607885"/>
            <a:ext cx="210976" cy="210976"/>
            <a:chOff x="0" y="0"/>
            <a:chExt cx="6350000" cy="6350000"/>
          </a:xfrm>
        </p:grpSpPr>
        <p:sp>
          <p:nvSpPr>
            <p:cNvPr name="Freeform 20" id="2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name="Group 21" id="21"/>
          <p:cNvGrpSpPr/>
          <p:nvPr/>
        </p:nvGrpSpPr>
        <p:grpSpPr>
          <a:xfrm rot="0">
            <a:off x="7660330" y="607885"/>
            <a:ext cx="210976" cy="210976"/>
            <a:chOff x="0" y="0"/>
            <a:chExt cx="6350000" cy="6350000"/>
          </a:xfrm>
        </p:grpSpPr>
        <p:sp>
          <p:nvSpPr>
            <p:cNvPr name="Freeform 22" id="2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name="Freeform 23" id="23"/>
          <p:cNvSpPr/>
          <p:nvPr/>
        </p:nvSpPr>
        <p:spPr>
          <a:xfrm flipH="false" flipV="false" rot="0">
            <a:off x="6731589" y="5487911"/>
            <a:ext cx="5148751" cy="3130442"/>
          </a:xfrm>
          <a:custGeom>
            <a:avLst/>
            <a:gdLst/>
            <a:ahLst/>
            <a:cxnLst/>
            <a:rect r="r" b="b" t="t" l="l"/>
            <a:pathLst>
              <a:path h="3130442" w="5148751">
                <a:moveTo>
                  <a:pt x="0" y="0"/>
                </a:moveTo>
                <a:lnTo>
                  <a:pt x="5148751" y="0"/>
                </a:lnTo>
                <a:lnTo>
                  <a:pt x="5148751" y="3130443"/>
                </a:lnTo>
                <a:lnTo>
                  <a:pt x="0" y="3130443"/>
                </a:lnTo>
                <a:lnTo>
                  <a:pt x="0" y="0"/>
                </a:lnTo>
                <a:close/>
              </a:path>
            </a:pathLst>
          </a:custGeom>
          <a:blipFill>
            <a:blip r:embed="rId4"/>
            <a:stretch>
              <a:fillRect l="0" t="0" r="-6021" b="0"/>
            </a:stretch>
          </a:blipFill>
        </p:spPr>
      </p:sp>
      <p:sp>
        <p:nvSpPr>
          <p:cNvPr name="Freeform 24" id="24"/>
          <p:cNvSpPr/>
          <p:nvPr/>
        </p:nvSpPr>
        <p:spPr>
          <a:xfrm flipH="false" flipV="false" rot="0">
            <a:off x="12147040" y="5487911"/>
            <a:ext cx="4882051" cy="3198880"/>
          </a:xfrm>
          <a:custGeom>
            <a:avLst/>
            <a:gdLst/>
            <a:ahLst/>
            <a:cxnLst/>
            <a:rect r="r" b="b" t="t" l="l"/>
            <a:pathLst>
              <a:path h="3198880" w="4882051">
                <a:moveTo>
                  <a:pt x="0" y="0"/>
                </a:moveTo>
                <a:lnTo>
                  <a:pt x="4882052" y="0"/>
                </a:lnTo>
                <a:lnTo>
                  <a:pt x="4882052" y="3198880"/>
                </a:lnTo>
                <a:lnTo>
                  <a:pt x="0" y="3198880"/>
                </a:lnTo>
                <a:lnTo>
                  <a:pt x="0" y="0"/>
                </a:lnTo>
                <a:close/>
              </a:path>
            </a:pathLst>
          </a:custGeom>
          <a:blipFill>
            <a:blip r:embed="rId5"/>
            <a:stretch>
              <a:fillRect l="0" t="-3272" r="0" b="-3272"/>
            </a:stretch>
          </a:blipFill>
        </p:spPr>
      </p:sp>
      <p:sp>
        <p:nvSpPr>
          <p:cNvPr name="TextBox 25" id="25"/>
          <p:cNvSpPr txBox="true"/>
          <p:nvPr/>
        </p:nvSpPr>
        <p:spPr>
          <a:xfrm rot="0">
            <a:off x="1028700" y="1275470"/>
            <a:ext cx="6842606" cy="2084873"/>
          </a:xfrm>
          <a:prstGeom prst="rect">
            <a:avLst/>
          </a:prstGeom>
        </p:spPr>
        <p:txBody>
          <a:bodyPr anchor="t" rtlCol="false" tIns="0" lIns="0" bIns="0" rIns="0">
            <a:spAutoFit/>
          </a:bodyPr>
          <a:lstStyle/>
          <a:p>
            <a:pPr algn="l">
              <a:lnSpc>
                <a:spcPts val="8125"/>
              </a:lnSpc>
            </a:pPr>
            <a:r>
              <a:rPr lang="en-US" sz="7813" b="true">
                <a:solidFill>
                  <a:srgbClr val="FFFFFF"/>
                </a:solidFill>
                <a:latin typeface="Canva Sans Bold"/>
                <a:ea typeface="Canva Sans Bold"/>
                <a:cs typeface="Canva Sans Bold"/>
                <a:sym typeface="Canva Sans Bold"/>
              </a:rPr>
              <a:t>Bối cảnh Nghiệp vụ</a:t>
            </a:r>
          </a:p>
        </p:txBody>
      </p:sp>
      <p:sp>
        <p:nvSpPr>
          <p:cNvPr name="TextBox 26" id="26"/>
          <p:cNvSpPr txBox="true"/>
          <p:nvPr/>
        </p:nvSpPr>
        <p:spPr>
          <a:xfrm rot="0">
            <a:off x="1146875" y="5920271"/>
            <a:ext cx="4922779" cy="515366"/>
          </a:xfrm>
          <a:prstGeom prst="rect">
            <a:avLst/>
          </a:prstGeom>
        </p:spPr>
        <p:txBody>
          <a:bodyPr anchor="t" rtlCol="false" tIns="0" lIns="0" bIns="0" rIns="0">
            <a:spAutoFit/>
          </a:bodyPr>
          <a:lstStyle/>
          <a:p>
            <a:pPr algn="ctr">
              <a:lnSpc>
                <a:spcPts val="3952"/>
              </a:lnSpc>
            </a:pPr>
            <a:r>
              <a:rPr lang="en-US" b="true" sz="3800">
                <a:solidFill>
                  <a:srgbClr val="071330"/>
                </a:solidFill>
                <a:latin typeface="Canva Sans Bold"/>
                <a:ea typeface="Canva Sans Bold"/>
                <a:cs typeface="Canva Sans Bold"/>
                <a:sym typeface="Canva Sans Bold"/>
              </a:rPr>
              <a:t>Quản lý truy cập</a:t>
            </a:r>
          </a:p>
        </p:txBody>
      </p:sp>
      <p:sp>
        <p:nvSpPr>
          <p:cNvPr name="TextBox 27" id="27"/>
          <p:cNvSpPr txBox="true"/>
          <p:nvPr/>
        </p:nvSpPr>
        <p:spPr>
          <a:xfrm rot="0">
            <a:off x="7426275" y="1664088"/>
            <a:ext cx="8908131" cy="2036953"/>
          </a:xfrm>
          <a:prstGeom prst="rect">
            <a:avLst/>
          </a:prstGeom>
        </p:spPr>
        <p:txBody>
          <a:bodyPr anchor="t" rtlCol="false" tIns="0" lIns="0" bIns="0" rIns="0">
            <a:spAutoFit/>
          </a:bodyPr>
          <a:lstStyle/>
          <a:p>
            <a:pPr algn="l">
              <a:lnSpc>
                <a:spcPts val="2727"/>
              </a:lnSpc>
            </a:pPr>
            <a:r>
              <a:rPr lang="en-US" sz="2199">
                <a:solidFill>
                  <a:srgbClr val="FFFFFF"/>
                </a:solidFill>
                <a:latin typeface="Canva Sans"/>
                <a:ea typeface="Canva Sans"/>
                <a:cs typeface="Canva Sans"/>
                <a:sym typeface="Canva Sans"/>
              </a:rPr>
              <a:t>  Người mua và quản trị viên đều có thể đăng nhập/đăng xuất hệ thống. Người mua được điều hướng đến trang danh mục điện thoại, trong khi quản trị viên được điều hướng đến trang quản trị. Hệ thống phân quyền rõ ràng để ngăn người mua truy cập vào các chức năng quản trị.</a:t>
            </a:r>
          </a:p>
          <a:p>
            <a:pPr algn="l">
              <a:lnSpc>
                <a:spcPts val="2604"/>
              </a:lnSpc>
            </a:pPr>
          </a:p>
        </p:txBody>
      </p:sp>
      <p:sp>
        <p:nvSpPr>
          <p:cNvPr name="TextBox 28" id="28"/>
          <p:cNvSpPr txBox="true"/>
          <p:nvPr/>
        </p:nvSpPr>
        <p:spPr>
          <a:xfrm rot="0">
            <a:off x="8516392" y="4962842"/>
            <a:ext cx="1255216"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Canva Sans"/>
                <a:ea typeface="Canva Sans"/>
                <a:cs typeface="Canva Sans"/>
                <a:sym typeface="Canva Sans"/>
              </a:rPr>
              <a:t>Người mua</a:t>
            </a:r>
          </a:p>
        </p:txBody>
      </p:sp>
      <p:sp>
        <p:nvSpPr>
          <p:cNvPr name="TextBox 29" id="29"/>
          <p:cNvSpPr txBox="true"/>
          <p:nvPr/>
        </p:nvSpPr>
        <p:spPr>
          <a:xfrm rot="0">
            <a:off x="13842139" y="4962842"/>
            <a:ext cx="149185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Canva Sans"/>
                <a:ea typeface="Canva Sans"/>
                <a:cs typeface="Canva Sans"/>
                <a:sym typeface="Canva Sans"/>
              </a:rPr>
              <a:t>Quản trị viên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CF60"/>
        </a:solidFill>
      </p:bgPr>
    </p:bg>
    <p:spTree>
      <p:nvGrpSpPr>
        <p:cNvPr id="1" name=""/>
        <p:cNvGrpSpPr/>
        <p:nvPr/>
      </p:nvGrpSpPr>
      <p:grpSpPr>
        <a:xfrm>
          <a:off x="0" y="0"/>
          <a:ext cx="0" cy="0"/>
          <a:chOff x="0" y="0"/>
          <a:chExt cx="0" cy="0"/>
        </a:xfrm>
      </p:grpSpPr>
      <p:grpSp>
        <p:nvGrpSpPr>
          <p:cNvPr name="Group 2" id="2"/>
          <p:cNvGrpSpPr/>
          <p:nvPr/>
        </p:nvGrpSpPr>
        <p:grpSpPr>
          <a:xfrm rot="0">
            <a:off x="-460312" y="-201041"/>
            <a:ext cx="19208624" cy="10689082"/>
            <a:chOff x="0" y="0"/>
            <a:chExt cx="25611499" cy="14252110"/>
          </a:xfrm>
        </p:grpSpPr>
        <p:sp>
          <p:nvSpPr>
            <p:cNvPr name="Freeform 3" id="3"/>
            <p:cNvSpPr/>
            <p:nvPr/>
          </p:nvSpPr>
          <p:spPr>
            <a:xfrm flipH="false" flipV="false" rot="0">
              <a:off x="0"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359389"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7515020" y="346938"/>
            <a:ext cx="9041520" cy="9593125"/>
          </a:xfrm>
          <a:custGeom>
            <a:avLst/>
            <a:gdLst/>
            <a:ahLst/>
            <a:cxnLst/>
            <a:rect r="r" b="b" t="t" l="l"/>
            <a:pathLst>
              <a:path h="9593125" w="9041520">
                <a:moveTo>
                  <a:pt x="0" y="0"/>
                </a:moveTo>
                <a:lnTo>
                  <a:pt x="9041520" y="0"/>
                </a:lnTo>
                <a:lnTo>
                  <a:pt x="9041520" y="9593124"/>
                </a:lnTo>
                <a:lnTo>
                  <a:pt x="0" y="9593124"/>
                </a:lnTo>
                <a:lnTo>
                  <a:pt x="0" y="0"/>
                </a:lnTo>
                <a:close/>
              </a:path>
            </a:pathLst>
          </a:custGeom>
          <a:blipFill>
            <a:blip r:embed="rId4"/>
            <a:stretch>
              <a:fillRect l="0" t="0" r="0" b="0"/>
            </a:stretch>
          </a:blipFill>
        </p:spPr>
      </p:sp>
      <p:sp>
        <p:nvSpPr>
          <p:cNvPr name="TextBox 6" id="6"/>
          <p:cNvSpPr txBox="true"/>
          <p:nvPr/>
        </p:nvSpPr>
        <p:spPr>
          <a:xfrm rot="0">
            <a:off x="1977097" y="4572889"/>
            <a:ext cx="4195774" cy="1217422"/>
          </a:xfrm>
          <a:prstGeom prst="rect">
            <a:avLst/>
          </a:prstGeom>
        </p:spPr>
        <p:txBody>
          <a:bodyPr anchor="t" rtlCol="false" tIns="0" lIns="0" bIns="0" rIns="0">
            <a:spAutoFit/>
          </a:bodyPr>
          <a:lstStyle/>
          <a:p>
            <a:pPr algn="ctr">
              <a:lnSpc>
                <a:spcPts val="4783"/>
              </a:lnSpc>
            </a:pPr>
            <a:r>
              <a:rPr lang="en-US" sz="4599" b="true">
                <a:solidFill>
                  <a:srgbClr val="071330"/>
                </a:solidFill>
                <a:latin typeface="Canva Sans Bold"/>
                <a:ea typeface="Canva Sans Bold"/>
                <a:cs typeface="Canva Sans Bold"/>
                <a:sym typeface="Canva Sans Bold"/>
              </a:rPr>
              <a:t>MÔ HÌNH</a:t>
            </a:r>
          </a:p>
          <a:p>
            <a:pPr algn="ctr">
              <a:lnSpc>
                <a:spcPts val="4783"/>
              </a:lnSpc>
            </a:pPr>
            <a:r>
              <a:rPr lang="en-US" b="true" sz="4599">
                <a:solidFill>
                  <a:srgbClr val="071330"/>
                </a:solidFill>
                <a:latin typeface="Canva Sans Bold"/>
                <a:ea typeface="Canva Sans Bold"/>
                <a:cs typeface="Canva Sans Bold"/>
                <a:sym typeface="Canva Sans Bold"/>
              </a:rPr>
              <a:t>KHÁI NIỆM</a:t>
            </a:r>
          </a:p>
        </p:txBody>
      </p:sp>
      <p:sp>
        <p:nvSpPr>
          <p:cNvPr name="TextBox 7" id="7"/>
          <p:cNvSpPr txBox="true"/>
          <p:nvPr/>
        </p:nvSpPr>
        <p:spPr>
          <a:xfrm rot="0">
            <a:off x="653681" y="470763"/>
            <a:ext cx="6842606" cy="1948561"/>
          </a:xfrm>
          <a:prstGeom prst="rect">
            <a:avLst/>
          </a:prstGeom>
        </p:spPr>
        <p:txBody>
          <a:bodyPr anchor="t" rtlCol="false" tIns="0" lIns="0" bIns="0" rIns="0">
            <a:spAutoFit/>
          </a:bodyPr>
          <a:lstStyle/>
          <a:p>
            <a:pPr algn="ctr" marL="0" indent="0" lvl="0">
              <a:lnSpc>
                <a:spcPts val="7591"/>
              </a:lnSpc>
              <a:spcBef>
                <a:spcPct val="0"/>
              </a:spcBef>
            </a:pPr>
            <a:r>
              <a:rPr lang="en-US" b="true" sz="7299" strike="noStrike" u="none">
                <a:solidFill>
                  <a:srgbClr val="071330"/>
                </a:solidFill>
                <a:latin typeface="Canva Sans Bold"/>
                <a:ea typeface="Canva Sans Bold"/>
                <a:cs typeface="Canva Sans Bold"/>
                <a:sym typeface="Canva Sans Bold"/>
              </a:rPr>
              <a:t>PHẦN 3:</a:t>
            </a:r>
          </a:p>
          <a:p>
            <a:pPr algn="ctr" marL="0" indent="0" lvl="0">
              <a:lnSpc>
                <a:spcPts val="7591"/>
              </a:lnSpc>
              <a:spcBef>
                <a:spcPct val="0"/>
              </a:spcBef>
            </a:pPr>
            <a:r>
              <a:rPr lang="en-US" b="true" sz="7299" strike="noStrike" u="none">
                <a:solidFill>
                  <a:srgbClr val="071330"/>
                </a:solidFill>
                <a:latin typeface="Canva Sans Bold"/>
                <a:ea typeface="Canva Sans Bold"/>
                <a:cs typeface="Canva Sans Bold"/>
                <a:sym typeface="Canva Sans Bold"/>
              </a:rPr>
              <a:t>CÁC SƠ ĐỒ</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CF60"/>
        </a:solidFill>
      </p:bgPr>
    </p:bg>
    <p:spTree>
      <p:nvGrpSpPr>
        <p:cNvPr id="1" name=""/>
        <p:cNvGrpSpPr/>
        <p:nvPr/>
      </p:nvGrpSpPr>
      <p:grpSpPr>
        <a:xfrm>
          <a:off x="0" y="0"/>
          <a:ext cx="0" cy="0"/>
          <a:chOff x="0" y="0"/>
          <a:chExt cx="0" cy="0"/>
        </a:xfrm>
      </p:grpSpPr>
      <p:grpSp>
        <p:nvGrpSpPr>
          <p:cNvPr name="Group 2" id="2"/>
          <p:cNvGrpSpPr/>
          <p:nvPr/>
        </p:nvGrpSpPr>
        <p:grpSpPr>
          <a:xfrm rot="0">
            <a:off x="-460312" y="-201041"/>
            <a:ext cx="19208624" cy="10689082"/>
            <a:chOff x="0" y="0"/>
            <a:chExt cx="25611499" cy="14252110"/>
          </a:xfrm>
        </p:grpSpPr>
        <p:sp>
          <p:nvSpPr>
            <p:cNvPr name="Freeform 3" id="3"/>
            <p:cNvSpPr/>
            <p:nvPr/>
          </p:nvSpPr>
          <p:spPr>
            <a:xfrm flipH="false" flipV="false" rot="0">
              <a:off x="0"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359389"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6650145" y="370047"/>
            <a:ext cx="10910750" cy="9546906"/>
          </a:xfrm>
          <a:custGeom>
            <a:avLst/>
            <a:gdLst/>
            <a:ahLst/>
            <a:cxnLst/>
            <a:rect r="r" b="b" t="t" l="l"/>
            <a:pathLst>
              <a:path h="9546906" w="10910750">
                <a:moveTo>
                  <a:pt x="0" y="0"/>
                </a:moveTo>
                <a:lnTo>
                  <a:pt x="10910750" y="0"/>
                </a:lnTo>
                <a:lnTo>
                  <a:pt x="10910750" y="9546906"/>
                </a:lnTo>
                <a:lnTo>
                  <a:pt x="0" y="9546906"/>
                </a:lnTo>
                <a:lnTo>
                  <a:pt x="0" y="0"/>
                </a:lnTo>
                <a:close/>
              </a:path>
            </a:pathLst>
          </a:custGeom>
          <a:blipFill>
            <a:blip r:embed="rId4"/>
            <a:stretch>
              <a:fillRect l="0" t="0" r="0" b="0"/>
            </a:stretch>
          </a:blipFill>
        </p:spPr>
      </p:sp>
      <p:sp>
        <p:nvSpPr>
          <p:cNvPr name="TextBox 6" id="6"/>
          <p:cNvSpPr txBox="true"/>
          <p:nvPr/>
        </p:nvSpPr>
        <p:spPr>
          <a:xfrm rot="0">
            <a:off x="-57150" y="4572889"/>
            <a:ext cx="6798352" cy="1217422"/>
          </a:xfrm>
          <a:prstGeom prst="rect">
            <a:avLst/>
          </a:prstGeom>
        </p:spPr>
        <p:txBody>
          <a:bodyPr anchor="t" rtlCol="false" tIns="0" lIns="0" bIns="0" rIns="0">
            <a:spAutoFit/>
          </a:bodyPr>
          <a:lstStyle/>
          <a:p>
            <a:pPr algn="ctr">
              <a:lnSpc>
                <a:spcPts val="4783"/>
              </a:lnSpc>
            </a:pPr>
            <a:r>
              <a:rPr lang="en-US" sz="4599" b="true">
                <a:solidFill>
                  <a:srgbClr val="071330"/>
                </a:solidFill>
                <a:latin typeface="Canva Sans Bold"/>
                <a:ea typeface="Canva Sans Bold"/>
                <a:cs typeface="Canva Sans Bold"/>
                <a:sym typeface="Canva Sans Bold"/>
              </a:rPr>
              <a:t>USE CASE:</a:t>
            </a:r>
          </a:p>
          <a:p>
            <a:pPr algn="ctr">
              <a:lnSpc>
                <a:spcPts val="4783"/>
              </a:lnSpc>
            </a:pPr>
            <a:r>
              <a:rPr lang="en-US" b="true" sz="4599">
                <a:solidFill>
                  <a:srgbClr val="071330"/>
                </a:solidFill>
                <a:latin typeface="Canva Sans Bold"/>
                <a:ea typeface="Canva Sans Bold"/>
                <a:cs typeface="Canva Sans Bold"/>
                <a:sym typeface="Canva Sans Bold"/>
              </a:rPr>
              <a:t>DANH MỤC SẢN PHẨM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CF60"/>
        </a:solidFill>
      </p:bgPr>
    </p:bg>
    <p:spTree>
      <p:nvGrpSpPr>
        <p:cNvPr id="1" name=""/>
        <p:cNvGrpSpPr/>
        <p:nvPr/>
      </p:nvGrpSpPr>
      <p:grpSpPr>
        <a:xfrm>
          <a:off x="0" y="0"/>
          <a:ext cx="0" cy="0"/>
          <a:chOff x="0" y="0"/>
          <a:chExt cx="0" cy="0"/>
        </a:xfrm>
      </p:grpSpPr>
      <p:grpSp>
        <p:nvGrpSpPr>
          <p:cNvPr name="Group 2" id="2"/>
          <p:cNvGrpSpPr/>
          <p:nvPr/>
        </p:nvGrpSpPr>
        <p:grpSpPr>
          <a:xfrm rot="0">
            <a:off x="-460312" y="-201041"/>
            <a:ext cx="19208624" cy="10689082"/>
            <a:chOff x="0" y="0"/>
            <a:chExt cx="25611499" cy="14252110"/>
          </a:xfrm>
        </p:grpSpPr>
        <p:sp>
          <p:nvSpPr>
            <p:cNvPr name="Freeform 3" id="3"/>
            <p:cNvSpPr/>
            <p:nvPr/>
          </p:nvSpPr>
          <p:spPr>
            <a:xfrm flipH="false" flipV="false" rot="0">
              <a:off x="0"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359389"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8467290" y="314689"/>
            <a:ext cx="8361218" cy="9657623"/>
          </a:xfrm>
          <a:custGeom>
            <a:avLst/>
            <a:gdLst/>
            <a:ahLst/>
            <a:cxnLst/>
            <a:rect r="r" b="b" t="t" l="l"/>
            <a:pathLst>
              <a:path h="9657623" w="8361218">
                <a:moveTo>
                  <a:pt x="0" y="0"/>
                </a:moveTo>
                <a:lnTo>
                  <a:pt x="8361218" y="0"/>
                </a:lnTo>
                <a:lnTo>
                  <a:pt x="8361218" y="9657622"/>
                </a:lnTo>
                <a:lnTo>
                  <a:pt x="0" y="9657622"/>
                </a:lnTo>
                <a:lnTo>
                  <a:pt x="0" y="0"/>
                </a:lnTo>
                <a:close/>
              </a:path>
            </a:pathLst>
          </a:custGeom>
          <a:blipFill>
            <a:blip r:embed="rId4"/>
            <a:stretch>
              <a:fillRect l="-343" t="-10016" r="-1543" b="-14662"/>
            </a:stretch>
          </a:blipFill>
        </p:spPr>
      </p:sp>
      <p:sp>
        <p:nvSpPr>
          <p:cNvPr name="TextBox 6" id="6"/>
          <p:cNvSpPr txBox="true"/>
          <p:nvPr/>
        </p:nvSpPr>
        <p:spPr>
          <a:xfrm rot="0">
            <a:off x="1028700" y="4572889"/>
            <a:ext cx="6798352" cy="1217422"/>
          </a:xfrm>
          <a:prstGeom prst="rect">
            <a:avLst/>
          </a:prstGeom>
        </p:spPr>
        <p:txBody>
          <a:bodyPr anchor="t" rtlCol="false" tIns="0" lIns="0" bIns="0" rIns="0">
            <a:spAutoFit/>
          </a:bodyPr>
          <a:lstStyle/>
          <a:p>
            <a:pPr algn="ctr">
              <a:lnSpc>
                <a:spcPts val="4783"/>
              </a:lnSpc>
            </a:pPr>
            <a:r>
              <a:rPr lang="en-US" sz="4599" b="true">
                <a:solidFill>
                  <a:srgbClr val="071330"/>
                </a:solidFill>
                <a:latin typeface="Canva Sans Bold"/>
                <a:ea typeface="Canva Sans Bold"/>
                <a:cs typeface="Canva Sans Bold"/>
                <a:sym typeface="Canva Sans Bold"/>
              </a:rPr>
              <a:t>USE CASE:</a:t>
            </a:r>
          </a:p>
          <a:p>
            <a:pPr algn="ctr">
              <a:lnSpc>
                <a:spcPts val="4783"/>
              </a:lnSpc>
            </a:pPr>
            <a:r>
              <a:rPr lang="en-US" b="true" sz="4599">
                <a:solidFill>
                  <a:srgbClr val="071330"/>
                </a:solidFill>
                <a:latin typeface="Canva Sans Bold"/>
                <a:ea typeface="Canva Sans Bold"/>
                <a:cs typeface="Canva Sans Bold"/>
                <a:sym typeface="Canva Sans Bold"/>
              </a:rPr>
              <a:t>GIỎ HÀNG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CF60"/>
        </a:solidFill>
      </p:bgPr>
    </p:bg>
    <p:spTree>
      <p:nvGrpSpPr>
        <p:cNvPr id="1" name=""/>
        <p:cNvGrpSpPr/>
        <p:nvPr/>
      </p:nvGrpSpPr>
      <p:grpSpPr>
        <a:xfrm>
          <a:off x="0" y="0"/>
          <a:ext cx="0" cy="0"/>
          <a:chOff x="0" y="0"/>
          <a:chExt cx="0" cy="0"/>
        </a:xfrm>
      </p:grpSpPr>
      <p:grpSp>
        <p:nvGrpSpPr>
          <p:cNvPr name="Group 2" id="2"/>
          <p:cNvGrpSpPr/>
          <p:nvPr/>
        </p:nvGrpSpPr>
        <p:grpSpPr>
          <a:xfrm rot="0">
            <a:off x="-460312" y="-201041"/>
            <a:ext cx="19208624" cy="10689082"/>
            <a:chOff x="0" y="0"/>
            <a:chExt cx="25611499" cy="14252110"/>
          </a:xfrm>
        </p:grpSpPr>
        <p:sp>
          <p:nvSpPr>
            <p:cNvPr name="Freeform 3" id="3"/>
            <p:cNvSpPr/>
            <p:nvPr/>
          </p:nvSpPr>
          <p:spPr>
            <a:xfrm flipH="false" flipV="false" rot="0">
              <a:off x="0"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359389"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904324" y="1304598"/>
            <a:ext cx="8499614" cy="1217422"/>
          </a:xfrm>
          <a:prstGeom prst="rect">
            <a:avLst/>
          </a:prstGeom>
        </p:spPr>
        <p:txBody>
          <a:bodyPr anchor="t" rtlCol="false" tIns="0" lIns="0" bIns="0" rIns="0">
            <a:spAutoFit/>
          </a:bodyPr>
          <a:lstStyle/>
          <a:p>
            <a:pPr algn="ctr">
              <a:lnSpc>
                <a:spcPts val="4783"/>
              </a:lnSpc>
            </a:pPr>
            <a:r>
              <a:rPr lang="en-US" sz="4599" b="true">
                <a:solidFill>
                  <a:srgbClr val="071330"/>
                </a:solidFill>
                <a:latin typeface="Canva Sans Bold"/>
                <a:ea typeface="Canva Sans Bold"/>
                <a:cs typeface="Canva Sans Bold"/>
                <a:sym typeface="Canva Sans Bold"/>
              </a:rPr>
              <a:t>USE CASE:</a:t>
            </a:r>
          </a:p>
          <a:p>
            <a:pPr algn="ctr">
              <a:lnSpc>
                <a:spcPts val="4783"/>
              </a:lnSpc>
            </a:pPr>
            <a:r>
              <a:rPr lang="en-US" b="true" sz="4599">
                <a:solidFill>
                  <a:srgbClr val="071330"/>
                </a:solidFill>
                <a:latin typeface="Canva Sans Bold"/>
                <a:ea typeface="Canva Sans Bold"/>
                <a:cs typeface="Canva Sans Bold"/>
                <a:sym typeface="Canva Sans Bold"/>
              </a:rPr>
              <a:t>QUY TRÌNH THANH TOÁN</a:t>
            </a:r>
          </a:p>
        </p:txBody>
      </p:sp>
      <p:sp>
        <p:nvSpPr>
          <p:cNvPr name="TextBox 6" id="6"/>
          <p:cNvSpPr txBox="true"/>
          <p:nvPr/>
        </p:nvSpPr>
        <p:spPr>
          <a:xfrm rot="0">
            <a:off x="10566133" y="1304598"/>
            <a:ext cx="6798352" cy="1217422"/>
          </a:xfrm>
          <a:prstGeom prst="rect">
            <a:avLst/>
          </a:prstGeom>
        </p:spPr>
        <p:txBody>
          <a:bodyPr anchor="t" rtlCol="false" tIns="0" lIns="0" bIns="0" rIns="0">
            <a:spAutoFit/>
          </a:bodyPr>
          <a:lstStyle/>
          <a:p>
            <a:pPr algn="ctr">
              <a:lnSpc>
                <a:spcPts val="4783"/>
              </a:lnSpc>
            </a:pPr>
            <a:r>
              <a:rPr lang="en-US" sz="4599" b="true">
                <a:solidFill>
                  <a:srgbClr val="071330"/>
                </a:solidFill>
                <a:latin typeface="Canva Sans Bold"/>
                <a:ea typeface="Canva Sans Bold"/>
                <a:cs typeface="Canva Sans Bold"/>
                <a:sym typeface="Canva Sans Bold"/>
              </a:rPr>
              <a:t>USE CASE:</a:t>
            </a:r>
          </a:p>
          <a:p>
            <a:pPr algn="ctr">
              <a:lnSpc>
                <a:spcPts val="4783"/>
              </a:lnSpc>
            </a:pPr>
            <a:r>
              <a:rPr lang="en-US" b="true" sz="4599">
                <a:solidFill>
                  <a:srgbClr val="071330"/>
                </a:solidFill>
                <a:latin typeface="Canva Sans Bold"/>
                <a:ea typeface="Canva Sans Bold"/>
                <a:cs typeface="Canva Sans Bold"/>
                <a:sym typeface="Canva Sans Bold"/>
              </a:rPr>
              <a:t>HÀNG TỒN KHO</a:t>
            </a:r>
          </a:p>
        </p:txBody>
      </p:sp>
      <p:sp>
        <p:nvSpPr>
          <p:cNvPr name="Freeform 7" id="7"/>
          <p:cNvSpPr/>
          <p:nvPr/>
        </p:nvSpPr>
        <p:spPr>
          <a:xfrm flipH="false" flipV="false" rot="0">
            <a:off x="904324" y="3167523"/>
            <a:ext cx="8239676" cy="5829616"/>
          </a:xfrm>
          <a:custGeom>
            <a:avLst/>
            <a:gdLst/>
            <a:ahLst/>
            <a:cxnLst/>
            <a:rect r="r" b="b" t="t" l="l"/>
            <a:pathLst>
              <a:path h="5829616" w="8239676">
                <a:moveTo>
                  <a:pt x="0" y="0"/>
                </a:moveTo>
                <a:lnTo>
                  <a:pt x="8239676" y="0"/>
                </a:lnTo>
                <a:lnTo>
                  <a:pt x="8239676" y="5829616"/>
                </a:lnTo>
                <a:lnTo>
                  <a:pt x="0" y="5829616"/>
                </a:lnTo>
                <a:lnTo>
                  <a:pt x="0" y="0"/>
                </a:lnTo>
                <a:close/>
              </a:path>
            </a:pathLst>
          </a:custGeom>
          <a:blipFill>
            <a:blip r:embed="rId4"/>
            <a:stretch>
              <a:fillRect l="0" t="0" r="-5727" b="-111218"/>
            </a:stretch>
          </a:blipFill>
        </p:spPr>
      </p:sp>
      <p:sp>
        <p:nvSpPr>
          <p:cNvPr name="Freeform 8" id="8"/>
          <p:cNvSpPr/>
          <p:nvPr/>
        </p:nvSpPr>
        <p:spPr>
          <a:xfrm flipH="false" flipV="false" rot="0">
            <a:off x="10807337" y="3167523"/>
            <a:ext cx="6787909" cy="5829616"/>
          </a:xfrm>
          <a:custGeom>
            <a:avLst/>
            <a:gdLst/>
            <a:ahLst/>
            <a:cxnLst/>
            <a:rect r="r" b="b" t="t" l="l"/>
            <a:pathLst>
              <a:path h="5829616" w="6787909">
                <a:moveTo>
                  <a:pt x="0" y="0"/>
                </a:moveTo>
                <a:lnTo>
                  <a:pt x="6787908" y="0"/>
                </a:lnTo>
                <a:lnTo>
                  <a:pt x="6787908" y="5829616"/>
                </a:lnTo>
                <a:lnTo>
                  <a:pt x="0" y="5829616"/>
                </a:lnTo>
                <a:lnTo>
                  <a:pt x="0" y="0"/>
                </a:lnTo>
                <a:close/>
              </a:path>
            </a:pathLst>
          </a:custGeom>
          <a:blipFill>
            <a:blip r:embed="rId5"/>
            <a:stretch>
              <a:fillRect l="-50337" t="-18197" r="-65484" b="-59282"/>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CF60"/>
        </a:solidFill>
      </p:bgPr>
    </p:bg>
    <p:spTree>
      <p:nvGrpSpPr>
        <p:cNvPr id="1" name=""/>
        <p:cNvGrpSpPr/>
        <p:nvPr/>
      </p:nvGrpSpPr>
      <p:grpSpPr>
        <a:xfrm>
          <a:off x="0" y="0"/>
          <a:ext cx="0" cy="0"/>
          <a:chOff x="0" y="0"/>
          <a:chExt cx="0" cy="0"/>
        </a:xfrm>
      </p:grpSpPr>
      <p:grpSp>
        <p:nvGrpSpPr>
          <p:cNvPr name="Group 2" id="2"/>
          <p:cNvGrpSpPr/>
          <p:nvPr/>
        </p:nvGrpSpPr>
        <p:grpSpPr>
          <a:xfrm rot="0">
            <a:off x="-460312" y="-201041"/>
            <a:ext cx="19208624" cy="10689082"/>
            <a:chOff x="0" y="0"/>
            <a:chExt cx="25611499" cy="14252110"/>
          </a:xfrm>
        </p:grpSpPr>
        <p:sp>
          <p:nvSpPr>
            <p:cNvPr name="Freeform 3" id="3"/>
            <p:cNvSpPr/>
            <p:nvPr/>
          </p:nvSpPr>
          <p:spPr>
            <a:xfrm flipH="false" flipV="false" rot="0">
              <a:off x="0"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359389"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028700" y="4609806"/>
            <a:ext cx="7126174" cy="3563087"/>
          </a:xfrm>
          <a:custGeom>
            <a:avLst/>
            <a:gdLst/>
            <a:ahLst/>
            <a:cxnLst/>
            <a:rect r="r" b="b" t="t" l="l"/>
            <a:pathLst>
              <a:path h="3563087" w="7126174">
                <a:moveTo>
                  <a:pt x="0" y="0"/>
                </a:moveTo>
                <a:lnTo>
                  <a:pt x="7126174" y="0"/>
                </a:lnTo>
                <a:lnTo>
                  <a:pt x="7126174" y="3563087"/>
                </a:lnTo>
                <a:lnTo>
                  <a:pt x="0" y="3563087"/>
                </a:lnTo>
                <a:lnTo>
                  <a:pt x="0" y="0"/>
                </a:lnTo>
                <a:close/>
              </a:path>
            </a:pathLst>
          </a:custGeom>
          <a:blipFill>
            <a:blip r:embed="rId4"/>
            <a:stretch>
              <a:fillRect l="-44190" t="-41732" r="-45872" b="-395548"/>
            </a:stretch>
          </a:blipFill>
        </p:spPr>
      </p:sp>
      <p:sp>
        <p:nvSpPr>
          <p:cNvPr name="Freeform 6" id="6"/>
          <p:cNvSpPr/>
          <p:nvPr/>
        </p:nvSpPr>
        <p:spPr>
          <a:xfrm flipH="false" flipV="false" rot="0">
            <a:off x="10967112" y="3772241"/>
            <a:ext cx="5923797" cy="5239505"/>
          </a:xfrm>
          <a:custGeom>
            <a:avLst/>
            <a:gdLst/>
            <a:ahLst/>
            <a:cxnLst/>
            <a:rect r="r" b="b" t="t" l="l"/>
            <a:pathLst>
              <a:path h="5239505" w="5923797">
                <a:moveTo>
                  <a:pt x="0" y="0"/>
                </a:moveTo>
                <a:lnTo>
                  <a:pt x="5923797" y="0"/>
                </a:lnTo>
                <a:lnTo>
                  <a:pt x="5923797" y="5239505"/>
                </a:lnTo>
                <a:lnTo>
                  <a:pt x="0" y="5239505"/>
                </a:lnTo>
                <a:lnTo>
                  <a:pt x="0" y="0"/>
                </a:lnTo>
                <a:close/>
              </a:path>
            </a:pathLst>
          </a:custGeom>
          <a:blipFill>
            <a:blip r:embed="rId5"/>
            <a:stretch>
              <a:fillRect l="-27896" t="-13508" r="-58048" b="-183637"/>
            </a:stretch>
          </a:blipFill>
        </p:spPr>
      </p:sp>
      <p:sp>
        <p:nvSpPr>
          <p:cNvPr name="TextBox 7" id="7"/>
          <p:cNvSpPr txBox="true"/>
          <p:nvPr/>
        </p:nvSpPr>
        <p:spPr>
          <a:xfrm rot="0">
            <a:off x="1356522" y="1304598"/>
            <a:ext cx="6798352" cy="1217422"/>
          </a:xfrm>
          <a:prstGeom prst="rect">
            <a:avLst/>
          </a:prstGeom>
        </p:spPr>
        <p:txBody>
          <a:bodyPr anchor="t" rtlCol="false" tIns="0" lIns="0" bIns="0" rIns="0">
            <a:spAutoFit/>
          </a:bodyPr>
          <a:lstStyle/>
          <a:p>
            <a:pPr algn="ctr">
              <a:lnSpc>
                <a:spcPts val="4783"/>
              </a:lnSpc>
            </a:pPr>
            <a:r>
              <a:rPr lang="en-US" sz="4599" b="true">
                <a:solidFill>
                  <a:srgbClr val="071330"/>
                </a:solidFill>
                <a:latin typeface="Canva Sans Bold"/>
                <a:ea typeface="Canva Sans Bold"/>
                <a:cs typeface="Canva Sans Bold"/>
                <a:sym typeface="Canva Sans Bold"/>
              </a:rPr>
              <a:t>USE CASE:</a:t>
            </a:r>
          </a:p>
          <a:p>
            <a:pPr algn="ctr">
              <a:lnSpc>
                <a:spcPts val="4783"/>
              </a:lnSpc>
            </a:pPr>
            <a:r>
              <a:rPr lang="en-US" b="true" sz="4599">
                <a:solidFill>
                  <a:srgbClr val="071330"/>
                </a:solidFill>
                <a:latin typeface="Canva Sans Bold"/>
                <a:ea typeface="Canva Sans Bold"/>
                <a:cs typeface="Canva Sans Bold"/>
                <a:sym typeface="Canva Sans Bold"/>
              </a:rPr>
              <a:t>ĐÁNH GIÁ</a:t>
            </a:r>
          </a:p>
        </p:txBody>
      </p:sp>
      <p:sp>
        <p:nvSpPr>
          <p:cNvPr name="TextBox 8" id="8"/>
          <p:cNvSpPr txBox="true"/>
          <p:nvPr/>
        </p:nvSpPr>
        <p:spPr>
          <a:xfrm rot="0">
            <a:off x="10566133" y="1304598"/>
            <a:ext cx="6798352" cy="1217422"/>
          </a:xfrm>
          <a:prstGeom prst="rect">
            <a:avLst/>
          </a:prstGeom>
        </p:spPr>
        <p:txBody>
          <a:bodyPr anchor="t" rtlCol="false" tIns="0" lIns="0" bIns="0" rIns="0">
            <a:spAutoFit/>
          </a:bodyPr>
          <a:lstStyle/>
          <a:p>
            <a:pPr algn="ctr">
              <a:lnSpc>
                <a:spcPts val="4783"/>
              </a:lnSpc>
            </a:pPr>
            <a:r>
              <a:rPr lang="en-US" sz="4599" b="true">
                <a:solidFill>
                  <a:srgbClr val="071330"/>
                </a:solidFill>
                <a:latin typeface="Canva Sans Bold"/>
                <a:ea typeface="Canva Sans Bold"/>
                <a:cs typeface="Canva Sans Bold"/>
                <a:sym typeface="Canva Sans Bold"/>
              </a:rPr>
              <a:t>USE CASE:</a:t>
            </a:r>
          </a:p>
          <a:p>
            <a:pPr algn="ctr">
              <a:lnSpc>
                <a:spcPts val="4783"/>
              </a:lnSpc>
            </a:pPr>
            <a:r>
              <a:rPr lang="en-US" b="true" sz="4599">
                <a:solidFill>
                  <a:srgbClr val="071330"/>
                </a:solidFill>
                <a:latin typeface="Canva Sans Bold"/>
                <a:ea typeface="Canva Sans Bold"/>
                <a:cs typeface="Canva Sans Bold"/>
                <a:sym typeface="Canva Sans Bold"/>
              </a:rPr>
              <a:t>KIỂM SOÁT TRUY CẬP</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6AC66B"/>
        </a:solidFill>
      </p:bgPr>
    </p:bg>
    <p:spTree>
      <p:nvGrpSpPr>
        <p:cNvPr id="1" name=""/>
        <p:cNvGrpSpPr/>
        <p:nvPr/>
      </p:nvGrpSpPr>
      <p:grpSpPr>
        <a:xfrm>
          <a:off x="0" y="0"/>
          <a:ext cx="0" cy="0"/>
          <a:chOff x="0" y="0"/>
          <a:chExt cx="0" cy="0"/>
        </a:xfrm>
      </p:grpSpPr>
      <p:grpSp>
        <p:nvGrpSpPr>
          <p:cNvPr name="Group 2" id="2"/>
          <p:cNvGrpSpPr/>
          <p:nvPr/>
        </p:nvGrpSpPr>
        <p:grpSpPr>
          <a:xfrm rot="0">
            <a:off x="-460312" y="-201041"/>
            <a:ext cx="19208624" cy="10689082"/>
            <a:chOff x="0" y="0"/>
            <a:chExt cx="25611499" cy="14252110"/>
          </a:xfrm>
        </p:grpSpPr>
        <p:sp>
          <p:nvSpPr>
            <p:cNvPr name="Freeform 3" id="3"/>
            <p:cNvSpPr/>
            <p:nvPr/>
          </p:nvSpPr>
          <p:spPr>
            <a:xfrm flipH="false" flipV="false" rot="0">
              <a:off x="0"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359389" y="0"/>
              <a:ext cx="14252110" cy="14252110"/>
            </a:xfrm>
            <a:custGeom>
              <a:avLst/>
              <a:gdLst/>
              <a:ahLst/>
              <a:cxnLst/>
              <a:rect r="r" b="b" t="t" l="l"/>
              <a:pathLst>
                <a:path h="14252110" w="14252110">
                  <a:moveTo>
                    <a:pt x="0" y="0"/>
                  </a:moveTo>
                  <a:lnTo>
                    <a:pt x="14252110" y="0"/>
                  </a:lnTo>
                  <a:lnTo>
                    <a:pt x="14252110" y="14252110"/>
                  </a:lnTo>
                  <a:lnTo>
                    <a:pt x="0" y="1425211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8395112" y="461823"/>
            <a:ext cx="9698941" cy="9568804"/>
            <a:chOff x="0" y="0"/>
            <a:chExt cx="3845713" cy="3794113"/>
          </a:xfrm>
        </p:grpSpPr>
        <p:sp>
          <p:nvSpPr>
            <p:cNvPr name="Freeform 6" id="6"/>
            <p:cNvSpPr/>
            <p:nvPr/>
          </p:nvSpPr>
          <p:spPr>
            <a:xfrm flipH="false" flipV="false" rot="0">
              <a:off x="0" y="0"/>
              <a:ext cx="3845713" cy="3794113"/>
            </a:xfrm>
            <a:custGeom>
              <a:avLst/>
              <a:gdLst/>
              <a:ahLst/>
              <a:cxnLst/>
              <a:rect r="r" b="b" t="t" l="l"/>
              <a:pathLst>
                <a:path h="3794113" w="3845713">
                  <a:moveTo>
                    <a:pt x="24745" y="0"/>
                  </a:moveTo>
                  <a:lnTo>
                    <a:pt x="3820968" y="0"/>
                  </a:lnTo>
                  <a:cubicBezTo>
                    <a:pt x="3834635" y="0"/>
                    <a:pt x="3845713" y="11079"/>
                    <a:pt x="3845713" y="24745"/>
                  </a:cubicBezTo>
                  <a:lnTo>
                    <a:pt x="3845713" y="3769368"/>
                  </a:lnTo>
                  <a:cubicBezTo>
                    <a:pt x="3845713" y="3783034"/>
                    <a:pt x="3834635" y="3794113"/>
                    <a:pt x="3820968" y="3794113"/>
                  </a:cubicBezTo>
                  <a:lnTo>
                    <a:pt x="24745" y="3794113"/>
                  </a:lnTo>
                  <a:cubicBezTo>
                    <a:pt x="11079" y="3794113"/>
                    <a:pt x="0" y="3783034"/>
                    <a:pt x="0" y="3769368"/>
                  </a:cubicBezTo>
                  <a:lnTo>
                    <a:pt x="0" y="24745"/>
                  </a:lnTo>
                  <a:cubicBezTo>
                    <a:pt x="0" y="11079"/>
                    <a:pt x="11079" y="0"/>
                    <a:pt x="24745" y="0"/>
                  </a:cubicBezTo>
                  <a:close/>
                </a:path>
              </a:pathLst>
            </a:custGeom>
            <a:solidFill>
              <a:srgbClr val="071330"/>
            </a:solidFill>
          </p:spPr>
        </p:sp>
        <p:sp>
          <p:nvSpPr>
            <p:cNvPr name="TextBox 7" id="7"/>
            <p:cNvSpPr txBox="true"/>
            <p:nvPr/>
          </p:nvSpPr>
          <p:spPr>
            <a:xfrm>
              <a:off x="0" y="-38100"/>
              <a:ext cx="3845713" cy="383221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8962247" y="801705"/>
            <a:ext cx="230844" cy="230844"/>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name="Group 10" id="10"/>
          <p:cNvGrpSpPr/>
          <p:nvPr/>
        </p:nvGrpSpPr>
        <p:grpSpPr>
          <a:xfrm rot="0">
            <a:off x="9263921" y="801705"/>
            <a:ext cx="230844" cy="230844"/>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name="Group 12" id="12"/>
          <p:cNvGrpSpPr/>
          <p:nvPr/>
        </p:nvGrpSpPr>
        <p:grpSpPr>
          <a:xfrm rot="0">
            <a:off x="9564360" y="801705"/>
            <a:ext cx="230844" cy="230844"/>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name="TextBox 14" id="14"/>
          <p:cNvSpPr txBox="true"/>
          <p:nvPr/>
        </p:nvSpPr>
        <p:spPr>
          <a:xfrm rot="0">
            <a:off x="8750059" y="1316429"/>
            <a:ext cx="9208930" cy="8460207"/>
          </a:xfrm>
          <a:prstGeom prst="rect">
            <a:avLst/>
          </a:prstGeom>
        </p:spPr>
        <p:txBody>
          <a:bodyPr anchor="t" rtlCol="false" tIns="0" lIns="0" bIns="0" rIns="0">
            <a:spAutoFit/>
          </a:bodyPr>
          <a:lstStyle/>
          <a:p>
            <a:pPr algn="l">
              <a:lnSpc>
                <a:spcPts val="1835"/>
              </a:lnSpc>
            </a:pPr>
            <a:r>
              <a:rPr lang="en-US" sz="1479" b="true">
                <a:solidFill>
                  <a:srgbClr val="FFFFFF"/>
                </a:solidFill>
                <a:latin typeface="Canva Sans Bold"/>
                <a:ea typeface="Canva Sans Bold"/>
                <a:cs typeface="Canva Sans Bold"/>
                <a:sym typeface="Canva Sans Bold"/>
              </a:rPr>
              <a:t> 1. Danh mục sản phẩm</a:t>
            </a:r>
          </a:p>
          <a:p>
            <a:pPr algn="l">
              <a:lnSpc>
                <a:spcPts val="1835"/>
              </a:lnSpc>
            </a:pPr>
            <a:r>
              <a:rPr lang="en-US" sz="1479">
                <a:solidFill>
                  <a:srgbClr val="FFFFFF"/>
                </a:solidFill>
                <a:latin typeface="Canva Sans"/>
                <a:ea typeface="Canva Sans"/>
                <a:cs typeface="Canva Sans"/>
                <a:sym typeface="Canva Sans"/>
              </a:rPr>
              <a:t> Với tư cách là Người mua, tôi muốn xem danh sách sản phẩm có hỗ trợ lọc và sắp xếp trên trang chủ (bao gồm tên, hình ảnh, mô tả ngắn, đánh giá và cờ "sản phẩm hot" – tức là sản phẩm được nhiều người xem hoặc mua).</a:t>
            </a:r>
          </a:p>
          <a:p>
            <a:pPr algn="l">
              <a:lnSpc>
                <a:spcPts val="1835"/>
              </a:lnSpc>
            </a:pPr>
            <a:r>
              <a:rPr lang="en-US" sz="1479">
                <a:solidFill>
                  <a:srgbClr val="FFFFFF"/>
                </a:solidFill>
                <a:latin typeface="Canva Sans"/>
                <a:ea typeface="Canva Sans"/>
                <a:cs typeface="Canva Sans"/>
                <a:sym typeface="Canva Sans"/>
              </a:rPr>
              <a:t> -Khi tôi lọc theo giá hoặc tên sản phẩm, danh sách sản phẩm cần được thu hẹp lại, chỉ hiển thị những sản phẩm phù hợp.</a:t>
            </a:r>
          </a:p>
          <a:p>
            <a:pPr algn="l">
              <a:lnSpc>
                <a:spcPts val="1835"/>
              </a:lnSpc>
            </a:pPr>
            <a:r>
              <a:rPr lang="en-US" sz="1479">
                <a:solidFill>
                  <a:srgbClr val="FFFFFF"/>
                </a:solidFill>
                <a:latin typeface="Canva Sans"/>
                <a:ea typeface="Canva Sans"/>
                <a:cs typeface="Canva Sans"/>
                <a:sym typeface="Canva Sans"/>
              </a:rPr>
              <a:t> -Khi tôi sắp xếp theo tăng dần hoặc giảm dần dựa trên giá hoặc tên sản phẩm, danh sách sản phẩm phải được sắp xếp theo tiêu chí đó.</a:t>
            </a:r>
          </a:p>
          <a:p>
            <a:pPr algn="l">
              <a:lnSpc>
                <a:spcPts val="1835"/>
              </a:lnSpc>
            </a:pPr>
            <a:r>
              <a:rPr lang="en-US" sz="1479">
                <a:solidFill>
                  <a:srgbClr val="FFFFFF"/>
                </a:solidFill>
                <a:latin typeface="Canva Sans"/>
                <a:ea typeface="Canva Sans"/>
                <a:cs typeface="Canva Sans"/>
                <a:sym typeface="Canva Sans"/>
              </a:rPr>
              <a:t> -Khi tôi vừa lọc vừa sắp xếp cùng lúc, danh sách sản phẩm cần thể hiện chính xác cả hai chức năng trên.</a:t>
            </a:r>
          </a:p>
          <a:p>
            <a:pPr algn="l">
              <a:lnSpc>
                <a:spcPts val="1835"/>
              </a:lnSpc>
            </a:pPr>
            <a:r>
              <a:rPr lang="en-US" sz="1479">
                <a:solidFill>
                  <a:srgbClr val="FFFFFF"/>
                </a:solidFill>
                <a:latin typeface="Canva Sans"/>
                <a:ea typeface="Canva Sans"/>
                <a:cs typeface="Canva Sans"/>
                <a:sym typeface="Canva Sans"/>
              </a:rPr>
              <a:t> Với tư cách là Người mua, tôi muốn truy cập vào trang chi tiết sản phẩm để xem các thuộc tính cơ bản như: tên, mô tả, số lượng còn trong kho, thông tin cửa hàng lưu trữ (địa chỉ kho, vị trí), cờ "sản phẩm hot" (nếu có) và đánh giá.</a:t>
            </a:r>
          </a:p>
          <a:p>
            <a:pPr algn="l">
              <a:lnSpc>
                <a:spcPts val="1835"/>
              </a:lnSpc>
            </a:pPr>
            <a:r>
              <a:rPr lang="en-US" sz="1479">
                <a:solidFill>
                  <a:srgbClr val="FFFFFF"/>
                </a:solidFill>
                <a:latin typeface="Canva Sans"/>
                <a:ea typeface="Canva Sans"/>
                <a:cs typeface="Canva Sans"/>
                <a:sym typeface="Canva Sans"/>
              </a:rPr>
              <a:t> Với tư cách là Quản trị viên hệ thống (SysAdmin), tôi muốn quản lý sản phẩm (các thao tác CRUD: tạo, đọc, cập nhật, xóa) và gán một kho hàng hiện có cho sản phẩm đó.</a:t>
            </a:r>
          </a:p>
          <a:p>
            <a:pPr algn="l">
              <a:lnSpc>
                <a:spcPts val="1835"/>
              </a:lnSpc>
            </a:pPr>
          </a:p>
          <a:p>
            <a:pPr algn="l">
              <a:lnSpc>
                <a:spcPts val="1835"/>
              </a:lnSpc>
            </a:pPr>
            <a:r>
              <a:rPr lang="en-US" sz="1479" b="true">
                <a:solidFill>
                  <a:srgbClr val="FFFFFF"/>
                </a:solidFill>
                <a:latin typeface="Canva Sans Bold"/>
                <a:ea typeface="Canva Sans Bold"/>
                <a:cs typeface="Canva Sans Bold"/>
                <a:sym typeface="Canva Sans Bold"/>
              </a:rPr>
              <a:t> 2.Giỏ hàng:</a:t>
            </a:r>
          </a:p>
          <a:p>
            <a:pPr algn="l">
              <a:lnSpc>
                <a:spcPts val="1835"/>
              </a:lnSpc>
            </a:pPr>
            <a:r>
              <a:rPr lang="en-US" sz="1479">
                <a:solidFill>
                  <a:srgbClr val="FFFFFF"/>
                </a:solidFill>
                <a:latin typeface="Canva Sans"/>
                <a:ea typeface="Canva Sans"/>
                <a:cs typeface="Canva Sans"/>
                <a:sym typeface="Canva Sans"/>
              </a:rPr>
              <a:t> Với tư cách là Người mua, tôi muốn mua bất kỳ sản phẩm nào trên trang danh mục sản phẩm (thêm sản phẩm này vào giỏ hàng – mặc định sẽ thêm 1 đơn vị).</a:t>
            </a:r>
          </a:p>
          <a:p>
            <a:pPr algn="l">
              <a:lnSpc>
                <a:spcPts val="1835"/>
              </a:lnSpc>
            </a:pPr>
            <a:r>
              <a:rPr lang="en-US" sz="1479">
                <a:solidFill>
                  <a:srgbClr val="FFFFFF"/>
                </a:solidFill>
                <a:latin typeface="Canva Sans"/>
                <a:ea typeface="Canva Sans"/>
                <a:cs typeface="Canva Sans"/>
                <a:sym typeface="Canva Sans"/>
              </a:rPr>
              <a:t> Với tư cách là Người mua, tôi muốn xem chi tiết sản phẩm và mua sản phẩm đó nếu tôi thích (thêm sản phẩm này vào giỏ hàng – mặc định sẽ thêm 1 đơn vị).</a:t>
            </a:r>
          </a:p>
          <a:p>
            <a:pPr algn="l">
              <a:lnSpc>
                <a:spcPts val="1835"/>
              </a:lnSpc>
            </a:pPr>
            <a:r>
              <a:rPr lang="en-US" sz="1479">
                <a:solidFill>
                  <a:srgbClr val="FFFFFF"/>
                </a:solidFill>
                <a:latin typeface="Canva Sans"/>
                <a:ea typeface="Canva Sans"/>
                <a:cs typeface="Canva Sans"/>
                <a:sym typeface="Canva Sans"/>
              </a:rPr>
              <a:t> Với tư cách là Người mua, tôi muốn xem danh sách các sản phẩm mà tôi vừa thêm vào giỏ hàng, và tôi muốn thấy bảng thông tin tóm tắt cho giỏ hàng hiện tại, bao gồm: tổng chi phí giỏ hàng, chi phí tiết kiệm từ sản phẩm khuyến mãi, chi phí tạm tính (subtotal), chi phí vận chuyển, chi phí tiết kiệm vận chuyển từ khuyến mãi, tổng số tiền đơn hàng.</a:t>
            </a:r>
          </a:p>
          <a:p>
            <a:pPr algn="l">
              <a:lnSpc>
                <a:spcPts val="1835"/>
              </a:lnSpc>
            </a:pPr>
            <a:r>
              <a:rPr lang="en-US" sz="1479">
                <a:solidFill>
                  <a:srgbClr val="FFFFFF"/>
                </a:solidFill>
                <a:latin typeface="Canva Sans"/>
                <a:ea typeface="Canva Sans"/>
                <a:cs typeface="Canva Sans"/>
                <a:sym typeface="Canva Sans"/>
              </a:rPr>
              <a:t> Với tư cách là Người mua, tôi muốn cập nhật số lượng của sản phẩm trong giỏ hàng.</a:t>
            </a:r>
          </a:p>
          <a:p>
            <a:pPr algn="l">
              <a:lnSpc>
                <a:spcPts val="1835"/>
              </a:lnSpc>
            </a:pPr>
            <a:r>
              <a:rPr lang="en-US" sz="1479">
                <a:solidFill>
                  <a:srgbClr val="FFFFFF"/>
                </a:solidFill>
                <a:latin typeface="Canva Sans"/>
                <a:ea typeface="Canva Sans"/>
                <a:cs typeface="Canva Sans"/>
                <a:sym typeface="Canva Sans"/>
              </a:rPr>
              <a:t> -Khi số lượng thay đổi, bảng thông tin tóm tắt cần được cập nhật theo.</a:t>
            </a:r>
          </a:p>
          <a:p>
            <a:pPr algn="l">
              <a:lnSpc>
                <a:spcPts val="1835"/>
              </a:lnSpc>
            </a:pPr>
            <a:r>
              <a:rPr lang="en-US" sz="1479">
                <a:solidFill>
                  <a:srgbClr val="FFFFFF"/>
                </a:solidFill>
                <a:latin typeface="Canva Sans"/>
                <a:ea typeface="Canva Sans"/>
                <a:cs typeface="Canva Sans"/>
                <a:sym typeface="Canva Sans"/>
              </a:rPr>
              <a:t> Với tư cách là Người mua, tôi muốn xóa sản phẩm trong giỏ hàng mà tôi không muốn mua nữa.</a:t>
            </a:r>
          </a:p>
          <a:p>
            <a:pPr algn="l">
              <a:lnSpc>
                <a:spcPts val="1835"/>
              </a:lnSpc>
            </a:pPr>
            <a:r>
              <a:rPr lang="en-US" sz="1479">
                <a:solidFill>
                  <a:srgbClr val="FFFFFF"/>
                </a:solidFill>
                <a:latin typeface="Canva Sans"/>
                <a:ea typeface="Canva Sans"/>
                <a:cs typeface="Canva Sans"/>
                <a:sym typeface="Canva Sans"/>
              </a:rPr>
              <a:t> -Khi xóa sản phẩm, bảng thông tin tóm tắt cũng cần được cập nhật theo.</a:t>
            </a:r>
          </a:p>
          <a:p>
            <a:pPr algn="l">
              <a:lnSpc>
                <a:spcPts val="1835"/>
              </a:lnSpc>
            </a:pPr>
            <a:r>
              <a:rPr lang="en-US" sz="1479">
                <a:solidFill>
                  <a:srgbClr val="FFFFFF"/>
                </a:solidFill>
                <a:latin typeface="Canva Sans"/>
                <a:ea typeface="Canva Sans"/>
                <a:cs typeface="Canva Sans"/>
                <a:sym typeface="Canva Sans"/>
              </a:rPr>
              <a:t> Với tư cách là Người mua, tôi muốn thanh toán giỏ hàng của mình.</a:t>
            </a:r>
          </a:p>
          <a:p>
            <a:pPr algn="l">
              <a:lnSpc>
                <a:spcPts val="1835"/>
              </a:lnSpc>
            </a:pPr>
            <a:r>
              <a:rPr lang="en-US" sz="1479">
                <a:solidFill>
                  <a:srgbClr val="FFFFFF"/>
                </a:solidFill>
                <a:latin typeface="Canva Sans"/>
                <a:ea typeface="Canva Sans"/>
                <a:cs typeface="Canva Sans"/>
                <a:sym typeface="Canva Sans"/>
              </a:rPr>
              <a:t> -Nếu giỏ hàng không còn sản phẩm nào thì không thể tiến hành thanh toán.</a:t>
            </a:r>
          </a:p>
          <a:p>
            <a:pPr algn="l">
              <a:lnSpc>
                <a:spcPts val="1835"/>
              </a:lnSpc>
            </a:pPr>
            <a:r>
              <a:rPr lang="en-US" sz="1479">
                <a:solidFill>
                  <a:srgbClr val="FFFFFF"/>
                </a:solidFill>
                <a:latin typeface="Canva Sans"/>
                <a:ea typeface="Canva Sans"/>
                <a:cs typeface="Canva Sans"/>
                <a:sym typeface="Canva Sans"/>
              </a:rPr>
              <a:t> -Khi giỏ hàng được thanh toán, quy trình thanh toán (Payment Process) sẽ bắt đầu.</a:t>
            </a:r>
          </a:p>
          <a:p>
            <a:pPr algn="l">
              <a:lnSpc>
                <a:spcPts val="1835"/>
              </a:lnSpc>
            </a:pPr>
            <a:r>
              <a:rPr lang="en-US" sz="1479">
                <a:solidFill>
                  <a:srgbClr val="FFFFFF"/>
                </a:solidFill>
                <a:latin typeface="Canva Sans"/>
                <a:ea typeface="Canva Sans"/>
                <a:cs typeface="Canva Sans"/>
                <a:sym typeface="Canva Sans"/>
              </a:rPr>
              <a:t> Với tư cách là Quản trị viên hệ thống (SysAdmin), tôi muốn xem giỏ hàng của tất cả người mua với thông tin bao gồm: tổng chi phí giỏ hàng, chi phí tiết kiệm từ sản phẩm khuyến mãi, chi phí tạm tính, chi phí vận chuyển, chi phí tiết kiệm vận chuyển, và tổng số tiền đơn hàng.</a:t>
            </a:r>
          </a:p>
          <a:p>
            <a:pPr algn="l">
              <a:lnSpc>
                <a:spcPts val="1835"/>
              </a:lnSpc>
            </a:pPr>
            <a:r>
              <a:rPr lang="en-US" sz="1479">
                <a:solidFill>
                  <a:srgbClr val="FFFFFF"/>
                </a:solidFill>
                <a:latin typeface="Canva Sans"/>
                <a:ea typeface="Canva Sans"/>
                <a:cs typeface="Canva Sans"/>
                <a:sym typeface="Canva Sans"/>
              </a:rPr>
              <a:t> Với tư cách là Quản trị viên hệ thống (SysAdmin), tôi muốn bật/tắt (enable/disable) bất kỳ giỏ hàng nào của người mua..</a:t>
            </a:r>
          </a:p>
        </p:txBody>
      </p:sp>
      <p:sp>
        <p:nvSpPr>
          <p:cNvPr name="TextBox 15" id="15"/>
          <p:cNvSpPr txBox="true"/>
          <p:nvPr/>
        </p:nvSpPr>
        <p:spPr>
          <a:xfrm rot="0">
            <a:off x="478409" y="576123"/>
            <a:ext cx="6842606" cy="2101867"/>
          </a:xfrm>
          <a:prstGeom prst="rect">
            <a:avLst/>
          </a:prstGeom>
        </p:spPr>
        <p:txBody>
          <a:bodyPr anchor="t" rtlCol="false" tIns="0" lIns="0" bIns="0" rIns="0">
            <a:spAutoFit/>
          </a:bodyPr>
          <a:lstStyle/>
          <a:p>
            <a:pPr algn="l">
              <a:lnSpc>
                <a:spcPts val="8125"/>
              </a:lnSpc>
            </a:pPr>
            <a:r>
              <a:rPr lang="en-US" sz="7813" b="true">
                <a:solidFill>
                  <a:srgbClr val="FFFFFF"/>
                </a:solidFill>
                <a:latin typeface="Canva Sans Bold"/>
                <a:ea typeface="Canva Sans Bold"/>
                <a:cs typeface="Canva Sans Bold"/>
                <a:sym typeface="Canva Sans Bold"/>
              </a:rPr>
              <a:t>PHẦN 4:</a:t>
            </a:r>
          </a:p>
          <a:p>
            <a:pPr algn="l">
              <a:lnSpc>
                <a:spcPts val="8125"/>
              </a:lnSpc>
            </a:pPr>
            <a:r>
              <a:rPr lang="en-US" sz="7813" b="true">
                <a:solidFill>
                  <a:srgbClr val="FFFFFF"/>
                </a:solidFill>
                <a:latin typeface="Canva Sans Bold"/>
                <a:ea typeface="Canva Sans Bold"/>
                <a:cs typeface="Canva Sans Bold"/>
                <a:sym typeface="Canva Sans Bold"/>
              </a:rPr>
              <a:t>USER STORY</a:t>
            </a:r>
          </a:p>
        </p:txBody>
      </p:sp>
      <p:grpSp>
        <p:nvGrpSpPr>
          <p:cNvPr name="Group 16" id="16"/>
          <p:cNvGrpSpPr/>
          <p:nvPr/>
        </p:nvGrpSpPr>
        <p:grpSpPr>
          <a:xfrm rot="0">
            <a:off x="478409" y="2677990"/>
            <a:ext cx="7434299" cy="7352637"/>
            <a:chOff x="0" y="0"/>
            <a:chExt cx="3822217" cy="3780232"/>
          </a:xfrm>
        </p:grpSpPr>
        <p:sp>
          <p:nvSpPr>
            <p:cNvPr name="Freeform 17" id="17"/>
            <p:cNvSpPr/>
            <p:nvPr/>
          </p:nvSpPr>
          <p:spPr>
            <a:xfrm flipH="false" flipV="false" rot="0">
              <a:off x="0" y="0"/>
              <a:ext cx="3822217" cy="3780232"/>
            </a:xfrm>
            <a:custGeom>
              <a:avLst/>
              <a:gdLst/>
              <a:ahLst/>
              <a:cxnLst/>
              <a:rect r="r" b="b" t="t" l="l"/>
              <a:pathLst>
                <a:path h="3780232" w="3822217">
                  <a:moveTo>
                    <a:pt x="32283" y="0"/>
                  </a:moveTo>
                  <a:lnTo>
                    <a:pt x="3789934" y="0"/>
                  </a:lnTo>
                  <a:cubicBezTo>
                    <a:pt x="3807763" y="0"/>
                    <a:pt x="3822217" y="14453"/>
                    <a:pt x="3822217" y="32283"/>
                  </a:cubicBezTo>
                  <a:lnTo>
                    <a:pt x="3822217" y="3747949"/>
                  </a:lnTo>
                  <a:cubicBezTo>
                    <a:pt x="3822217" y="3756511"/>
                    <a:pt x="3818815" y="3764722"/>
                    <a:pt x="3812761" y="3770776"/>
                  </a:cubicBezTo>
                  <a:cubicBezTo>
                    <a:pt x="3806707" y="3776830"/>
                    <a:pt x="3798496" y="3780232"/>
                    <a:pt x="3789934" y="3780232"/>
                  </a:cubicBezTo>
                  <a:lnTo>
                    <a:pt x="32283" y="3780232"/>
                  </a:lnTo>
                  <a:cubicBezTo>
                    <a:pt x="14453" y="3780232"/>
                    <a:pt x="0" y="3765778"/>
                    <a:pt x="0" y="3747949"/>
                  </a:cubicBezTo>
                  <a:lnTo>
                    <a:pt x="0" y="32283"/>
                  </a:lnTo>
                  <a:cubicBezTo>
                    <a:pt x="0" y="23721"/>
                    <a:pt x="3401" y="15510"/>
                    <a:pt x="9455" y="9455"/>
                  </a:cubicBezTo>
                  <a:cubicBezTo>
                    <a:pt x="15510" y="3401"/>
                    <a:pt x="23721" y="0"/>
                    <a:pt x="32283" y="0"/>
                  </a:cubicBezTo>
                  <a:close/>
                </a:path>
              </a:pathLst>
            </a:custGeom>
            <a:solidFill>
              <a:srgbClr val="071330"/>
            </a:solidFill>
          </p:spPr>
        </p:sp>
        <p:sp>
          <p:nvSpPr>
            <p:cNvPr name="TextBox 18" id="18"/>
            <p:cNvSpPr txBox="true"/>
            <p:nvPr/>
          </p:nvSpPr>
          <p:spPr>
            <a:xfrm>
              <a:off x="0" y="-38100"/>
              <a:ext cx="3822217" cy="3818332"/>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915794" y="2940114"/>
            <a:ext cx="178031" cy="178031"/>
            <a:chOff x="0" y="0"/>
            <a:chExt cx="6350000" cy="6350000"/>
          </a:xfrm>
        </p:grpSpPr>
        <p:sp>
          <p:nvSpPr>
            <p:cNvPr name="Freeform 20" id="2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0F3F"/>
            </a:solidFill>
          </p:spPr>
        </p:sp>
      </p:grpSp>
      <p:grpSp>
        <p:nvGrpSpPr>
          <p:cNvPr name="Group 21" id="21"/>
          <p:cNvGrpSpPr/>
          <p:nvPr/>
        </p:nvGrpSpPr>
        <p:grpSpPr>
          <a:xfrm rot="0">
            <a:off x="1148451" y="2940114"/>
            <a:ext cx="178031" cy="178031"/>
            <a:chOff x="0" y="0"/>
            <a:chExt cx="6350000" cy="6350000"/>
          </a:xfrm>
        </p:grpSpPr>
        <p:sp>
          <p:nvSpPr>
            <p:cNvPr name="Freeform 22" id="2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CF60"/>
            </a:solidFill>
          </p:spPr>
        </p:sp>
      </p:grpSp>
      <p:grpSp>
        <p:nvGrpSpPr>
          <p:cNvPr name="Group 23" id="23"/>
          <p:cNvGrpSpPr/>
          <p:nvPr/>
        </p:nvGrpSpPr>
        <p:grpSpPr>
          <a:xfrm rot="0">
            <a:off x="1380155" y="2940114"/>
            <a:ext cx="178031" cy="178031"/>
            <a:chOff x="0" y="0"/>
            <a:chExt cx="6350000" cy="6350000"/>
          </a:xfrm>
        </p:grpSpPr>
        <p:sp>
          <p:nvSpPr>
            <p:cNvPr name="Freeform 24" id="2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AC66B"/>
            </a:solidFill>
          </p:spPr>
        </p:sp>
      </p:grpSp>
      <p:sp>
        <p:nvSpPr>
          <p:cNvPr name="TextBox 25" id="25"/>
          <p:cNvSpPr txBox="true"/>
          <p:nvPr/>
        </p:nvSpPr>
        <p:spPr>
          <a:xfrm rot="0">
            <a:off x="1028700" y="3384844"/>
            <a:ext cx="6470775" cy="6564884"/>
          </a:xfrm>
          <a:prstGeom prst="rect">
            <a:avLst/>
          </a:prstGeom>
        </p:spPr>
        <p:txBody>
          <a:bodyPr anchor="t" rtlCol="false" tIns="0" lIns="0" bIns="0" rIns="0">
            <a:spAutoFit/>
          </a:bodyPr>
          <a:lstStyle/>
          <a:p>
            <a:pPr algn="l">
              <a:lnSpc>
                <a:spcPts val="1797"/>
              </a:lnSpc>
            </a:pPr>
            <a:r>
              <a:rPr lang="en-US" sz="1449" b="true">
                <a:solidFill>
                  <a:srgbClr val="FFFFFF"/>
                </a:solidFill>
                <a:latin typeface="Canva Sans Bold"/>
                <a:ea typeface="Canva Sans Bold"/>
                <a:cs typeface="Canva Sans Bold"/>
                <a:sym typeface="Canva Sans Bold"/>
              </a:rPr>
              <a:t>3.Thanh toán</a:t>
            </a:r>
          </a:p>
          <a:p>
            <a:pPr algn="l">
              <a:lnSpc>
                <a:spcPts val="1797"/>
              </a:lnSpc>
            </a:pPr>
            <a:r>
              <a:rPr lang="en-US" sz="1449">
                <a:solidFill>
                  <a:srgbClr val="FFFFFF"/>
                </a:solidFill>
                <a:latin typeface="Canva Sans"/>
                <a:ea typeface="Canva Sans"/>
                <a:cs typeface="Canva Sans"/>
                <a:sym typeface="Canva Sans"/>
              </a:rPr>
              <a:t> Bất kỳ Người mua nào đều có thể thực hiện thanh toán.</a:t>
            </a:r>
          </a:p>
          <a:p>
            <a:pPr algn="l">
              <a:lnSpc>
                <a:spcPts val="1797"/>
              </a:lnSpc>
            </a:pPr>
            <a:r>
              <a:rPr lang="en-US" sz="1449">
                <a:solidFill>
                  <a:srgbClr val="FFFFFF"/>
                </a:solidFill>
                <a:latin typeface="Canva Sans"/>
                <a:ea typeface="Canva Sans"/>
                <a:cs typeface="Canva Sans"/>
                <a:sym typeface="Canva Sans"/>
              </a:rPr>
              <a:t> Khi quy trình thanh toán diễn ra, hệ thống sẽ bắt đầu kiểm tra tính hợp lệ của thông tin sản phẩm, xử lý thanh toán và sau đó gửi một email thông báo cho Người mua (vì đây chỉ là demo nên chưa tích hợp với cổng thanh toán thực tế).</a:t>
            </a:r>
          </a:p>
          <a:p>
            <a:pPr algn="l">
              <a:lnSpc>
                <a:spcPts val="1797"/>
              </a:lnSpc>
            </a:pPr>
            <a:r>
              <a:rPr lang="en-US" sz="1449">
                <a:solidFill>
                  <a:srgbClr val="FFFFFF"/>
                </a:solidFill>
                <a:latin typeface="Canva Sans"/>
                <a:ea typeface="Canva Sans"/>
                <a:cs typeface="Canva Sans"/>
                <a:sym typeface="Canva Sans"/>
              </a:rPr>
              <a:t> -Nếu thông tin sản phẩm không hợp lệ, quy trình thanh toán sẽ bị hủy và một email sẽ được gửi cho Người mua để thông báo.</a:t>
            </a:r>
          </a:p>
          <a:p>
            <a:pPr algn="l">
              <a:lnSpc>
                <a:spcPts val="1797"/>
              </a:lnSpc>
            </a:pPr>
            <a:r>
              <a:rPr lang="en-US" sz="1449">
                <a:solidFill>
                  <a:srgbClr val="FFFFFF"/>
                </a:solidFill>
                <a:latin typeface="Canva Sans"/>
                <a:ea typeface="Canva Sans"/>
                <a:cs typeface="Canva Sans"/>
                <a:sym typeface="Canva Sans"/>
              </a:rPr>
              <a:t> -Khi kết thúc quy trình thanh toán, trạng thái thanh toán của giỏ hàng sẽ được đánh dấu là đã xử lý, và một email sẽ được gửi cho Người mua để họ biết.</a:t>
            </a:r>
          </a:p>
          <a:p>
            <a:pPr algn="l">
              <a:lnSpc>
                <a:spcPts val="1797"/>
              </a:lnSpc>
            </a:pPr>
          </a:p>
          <a:p>
            <a:pPr algn="l">
              <a:lnSpc>
                <a:spcPts val="1797"/>
              </a:lnSpc>
            </a:pPr>
            <a:r>
              <a:rPr lang="en-US" sz="1449" b="true">
                <a:solidFill>
                  <a:srgbClr val="FFFFFF"/>
                </a:solidFill>
                <a:latin typeface="Canva Sans Bold"/>
                <a:ea typeface="Canva Sans Bold"/>
                <a:cs typeface="Canva Sans Bold"/>
                <a:sym typeface="Canva Sans Bold"/>
              </a:rPr>
              <a:t>4.Kho hàng</a:t>
            </a:r>
          </a:p>
          <a:p>
            <a:pPr algn="l">
              <a:lnSpc>
                <a:spcPts val="1797"/>
              </a:lnSpc>
            </a:pPr>
            <a:r>
              <a:rPr lang="en-US" sz="1449">
                <a:solidFill>
                  <a:srgbClr val="FFFFFF"/>
                </a:solidFill>
                <a:latin typeface="Canva Sans"/>
                <a:ea typeface="Canva Sans"/>
                <a:cs typeface="Canva Sans"/>
                <a:sym typeface="Canva Sans"/>
              </a:rPr>
              <a:t> Với tư cách là Quản trị viên hệ thống (SysAdmin), tôi muốn quản lý kho hàng (các thao tác CRUD: tạo, đọc, cập nhật, xóa).</a:t>
            </a:r>
          </a:p>
          <a:p>
            <a:pPr algn="l">
              <a:lnSpc>
                <a:spcPts val="1797"/>
              </a:lnSpc>
            </a:pPr>
          </a:p>
          <a:p>
            <a:pPr algn="l">
              <a:lnSpc>
                <a:spcPts val="1797"/>
              </a:lnSpc>
            </a:pPr>
            <a:r>
              <a:rPr lang="en-US" sz="1449" b="true">
                <a:solidFill>
                  <a:srgbClr val="FFFFFF"/>
                </a:solidFill>
                <a:latin typeface="Canva Sans Bold"/>
                <a:ea typeface="Canva Sans Bold"/>
                <a:cs typeface="Canva Sans Bold"/>
                <a:sym typeface="Canva Sans Bold"/>
              </a:rPr>
              <a:t>5.Đánh giá</a:t>
            </a:r>
          </a:p>
          <a:p>
            <a:pPr algn="l">
              <a:lnSpc>
                <a:spcPts val="1797"/>
              </a:lnSpc>
            </a:pPr>
            <a:r>
              <a:rPr lang="en-US" sz="1449">
                <a:solidFill>
                  <a:srgbClr val="FFFFFF"/>
                </a:solidFill>
                <a:latin typeface="Canva Sans"/>
                <a:ea typeface="Canva Sans"/>
                <a:cs typeface="Canva Sans"/>
                <a:sym typeface="Canva Sans"/>
              </a:rPr>
              <a:t> Với tư cách là Người mua, tôi muốn đánh giá sản phẩm mà tôi thấy tốt (từ 1 → 5 sao).</a:t>
            </a:r>
          </a:p>
          <a:p>
            <a:pPr algn="l">
              <a:lnSpc>
                <a:spcPts val="1797"/>
              </a:lnSpc>
            </a:pPr>
          </a:p>
          <a:p>
            <a:pPr algn="l">
              <a:lnSpc>
                <a:spcPts val="1797"/>
              </a:lnSpc>
            </a:pPr>
            <a:r>
              <a:rPr lang="en-US" sz="1449" b="true">
                <a:solidFill>
                  <a:srgbClr val="FFFFFF"/>
                </a:solidFill>
                <a:latin typeface="Canva Sans Bold"/>
                <a:ea typeface="Canva Sans Bold"/>
                <a:cs typeface="Canva Sans Bold"/>
                <a:sym typeface="Canva Sans Bold"/>
              </a:rPr>
              <a:t>6.Quản lý truy cập</a:t>
            </a:r>
          </a:p>
          <a:p>
            <a:pPr algn="l">
              <a:lnSpc>
                <a:spcPts val="1797"/>
              </a:lnSpc>
            </a:pPr>
            <a:r>
              <a:rPr lang="en-US" sz="1449">
                <a:solidFill>
                  <a:srgbClr val="FFFFFF"/>
                </a:solidFill>
                <a:latin typeface="Canva Sans"/>
                <a:ea typeface="Canva Sans"/>
                <a:cs typeface="Canva Sans"/>
                <a:sym typeface="Canva Sans"/>
              </a:rPr>
              <a:t> Mỗi Người mua / Quản trị viên đều là một Người dùng (User).</a:t>
            </a:r>
          </a:p>
          <a:p>
            <a:pPr algn="l">
              <a:lnSpc>
                <a:spcPts val="1797"/>
              </a:lnSpc>
            </a:pPr>
            <a:r>
              <a:rPr lang="en-US" sz="1449">
                <a:solidFill>
                  <a:srgbClr val="FFFFFF"/>
                </a:solidFill>
                <a:latin typeface="Canva Sans"/>
                <a:ea typeface="Canva Sans"/>
                <a:cs typeface="Canva Sans"/>
                <a:sym typeface="Canva Sans"/>
              </a:rPr>
              <a:t> Với tư cách là Người mua hoặc Quản trị viên, tôi muốn đăng nhập vào hệ thống.</a:t>
            </a:r>
          </a:p>
          <a:p>
            <a:pPr algn="l">
              <a:lnSpc>
                <a:spcPts val="1797"/>
              </a:lnSpc>
            </a:pPr>
            <a:r>
              <a:rPr lang="en-US" sz="1449">
                <a:solidFill>
                  <a:srgbClr val="FFFFFF"/>
                </a:solidFill>
                <a:latin typeface="Canva Sans"/>
                <a:ea typeface="Canva Sans"/>
                <a:cs typeface="Canva Sans"/>
                <a:sym typeface="Canva Sans"/>
              </a:rPr>
              <a:t> -Khi một Người mua đăng nhập, họ sẽ được đưa đến trang danh mục sản phẩm.</a:t>
            </a:r>
          </a:p>
          <a:p>
            <a:pPr algn="l">
              <a:lnSpc>
                <a:spcPts val="1797"/>
              </a:lnSpc>
            </a:pPr>
            <a:r>
              <a:rPr lang="en-US" sz="1449">
                <a:solidFill>
                  <a:srgbClr val="FFFFFF"/>
                </a:solidFill>
                <a:latin typeface="Canva Sans"/>
                <a:ea typeface="Canva Sans"/>
                <a:cs typeface="Canva Sans"/>
                <a:sym typeface="Canva Sans"/>
              </a:rPr>
              <a:t> -Khi một Quản trị viên đăng nhập, họ sẽ được đưa đến trang quản trị.</a:t>
            </a:r>
          </a:p>
          <a:p>
            <a:pPr algn="l">
              <a:lnSpc>
                <a:spcPts val="1797"/>
              </a:lnSpc>
            </a:pPr>
            <a:r>
              <a:rPr lang="en-US" sz="1449">
                <a:solidFill>
                  <a:srgbClr val="FFFFFF"/>
                </a:solidFill>
                <a:latin typeface="Canva Sans"/>
                <a:ea typeface="Canva Sans"/>
                <a:cs typeface="Canva Sans"/>
                <a:sym typeface="Canva Sans"/>
              </a:rPr>
              <a:t> Với tư cách là Người mua hoặc Quản trị viên, tôi muốn đăng xuất khỏi hệ thống.</a:t>
            </a:r>
          </a:p>
          <a:p>
            <a:pPr algn="l">
              <a:lnSpc>
                <a:spcPts val="1797"/>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DAGz2mL0Jbg</dc:identifier>
  <dcterms:modified xsi:type="dcterms:W3CDTF">2011-08-01T06:04:30Z</dcterms:modified>
  <cp:revision>1</cp:revision>
  <dc:title>Green and Yellow Modern Programmer Presentation</dc:title>
</cp:coreProperties>
</file>